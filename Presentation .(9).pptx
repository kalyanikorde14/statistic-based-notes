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8"/>
  </p:notesMasterIdLst>
  <p:sldIdLst>
    <p:sldId id="256" r:id="rId2"/>
    <p:sldId id="30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5" r:id="rId17"/>
    <p:sldId id="276" r:id="rId18"/>
    <p:sldId id="277" r:id="rId19"/>
    <p:sldId id="289" r:id="rId20"/>
    <p:sldId id="278" r:id="rId21"/>
    <p:sldId id="279" r:id="rId22"/>
    <p:sldId id="280" r:id="rId23"/>
    <p:sldId id="281" r:id="rId24"/>
    <p:sldId id="282" r:id="rId25"/>
    <p:sldId id="283" r:id="rId26"/>
    <p:sldId id="284" r:id="rId27"/>
    <p:sldId id="285" r:id="rId28"/>
    <p:sldId id="286" r:id="rId29"/>
    <p:sldId id="287" r:id="rId30"/>
    <p:sldId id="288" r:id="rId31"/>
    <p:sldId id="292" r:id="rId32"/>
    <p:sldId id="294" r:id="rId33"/>
    <p:sldId id="295" r:id="rId34"/>
    <p:sldId id="297" r:id="rId35"/>
    <p:sldId id="299" r:id="rId36"/>
    <p:sldId id="300" r:id="rId37"/>
    <p:sldId id="301" r:id="rId38"/>
    <p:sldId id="302" r:id="rId39"/>
    <p:sldId id="303" r:id="rId40"/>
    <p:sldId id="304" r:id="rId41"/>
    <p:sldId id="306" r:id="rId42"/>
    <p:sldId id="270" r:id="rId43"/>
    <p:sldId id="271" r:id="rId44"/>
    <p:sldId id="272" r:id="rId45"/>
    <p:sldId id="273" r:id="rId46"/>
    <p:sldId id="308"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notesMaster" Target="notesMasters/notesMaster1.xml" /><Relationship Id="rId8" Type="http://schemas.openxmlformats.org/officeDocument/2006/relationships/slide" Target="slides/slide7.xml" /><Relationship Id="rId5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8C402B-6614-FA4C-A717-5EFB55C85AD5}" type="datetimeFigureOut">
              <a:rPr lang="en-US" smtClean="0"/>
              <a:t>9/24/2025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576D00-9E9D-224E-9A86-11E61E5404E1}" type="slidenum">
              <a:rPr lang="en-US" smtClean="0"/>
              <a:t>‹#›</a:t>
            </a:fld>
            <a:endParaRPr lang="en-US"/>
          </a:p>
        </p:txBody>
      </p:sp>
    </p:spTree>
    <p:extLst>
      <p:ext uri="{BB962C8B-B14F-4D97-AF65-F5344CB8AC3E}">
        <p14:creationId xmlns:p14="http://schemas.microsoft.com/office/powerpoint/2010/main" val="1498347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analysis presentation </a:t>
            </a:r>
          </a:p>
          <a:p>
            <a:r>
              <a:rPr lang="en-US" dirty="0"/>
              <a:t>https://1drv.ms/p/c/8c19a627539fafa0/EYw54g6geY1GsP576j_TyiMBaCCge6dzdFZug5h6yM6C5w?e=7fCwAl</a:t>
            </a:r>
          </a:p>
        </p:txBody>
      </p:sp>
      <p:sp>
        <p:nvSpPr>
          <p:cNvPr id="4" name="Slide Number Placeholder 3"/>
          <p:cNvSpPr>
            <a:spLocks noGrp="1"/>
          </p:cNvSpPr>
          <p:nvPr>
            <p:ph type="sldNum" sz="quarter" idx="5"/>
          </p:nvPr>
        </p:nvSpPr>
        <p:spPr/>
        <p:txBody>
          <a:bodyPr/>
          <a:lstStyle/>
          <a:p>
            <a:fld id="{DF576D00-9E9D-224E-9A86-11E61E5404E1}" type="slidenum">
              <a:rPr lang="en-US" smtClean="0"/>
              <a:t>1</a:t>
            </a:fld>
            <a:endParaRPr lang="en-US"/>
          </a:p>
        </p:txBody>
      </p:sp>
    </p:spTree>
    <p:extLst>
      <p:ext uri="{BB962C8B-B14F-4D97-AF65-F5344CB8AC3E}">
        <p14:creationId xmlns:p14="http://schemas.microsoft.com/office/powerpoint/2010/main" val="1312011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4.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9/24/2025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22.jpe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23.jpe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24.jpe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25.jpe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26.jpe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27.jpe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28.jpe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29.jpe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30.jpe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31.jpe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32.jpe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33.jpe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34.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34C75-EF6D-DD2C-36BD-50F87EF16571}"/>
              </a:ext>
            </a:extLst>
          </p:cNvPr>
          <p:cNvSpPr>
            <a:spLocks noGrp="1"/>
          </p:cNvSpPr>
          <p:nvPr>
            <p:ph type="ctrTitle"/>
          </p:nvPr>
        </p:nvSpPr>
        <p:spPr/>
        <p:txBody>
          <a:bodyPr/>
          <a:lstStyle/>
          <a:p>
            <a:r>
              <a:rPr lang="en-US" dirty="0"/>
              <a:t>Data Analysis </a:t>
            </a:r>
          </a:p>
        </p:txBody>
      </p:sp>
      <p:sp>
        <p:nvSpPr>
          <p:cNvPr id="3" name="Subtitle 2">
            <a:extLst>
              <a:ext uri="{FF2B5EF4-FFF2-40B4-BE49-F238E27FC236}">
                <a16:creationId xmlns:a16="http://schemas.microsoft.com/office/drawing/2014/main" id="{B3FA976A-7A5C-AD2D-3424-C4E754A6E7E8}"/>
              </a:ext>
            </a:extLst>
          </p:cNvPr>
          <p:cNvSpPr>
            <a:spLocks noGrp="1"/>
          </p:cNvSpPr>
          <p:nvPr>
            <p:ph type="subTitle" idx="1"/>
          </p:nvPr>
        </p:nvSpPr>
        <p:spPr/>
        <p:txBody>
          <a:bodyPr/>
          <a:lstStyle/>
          <a:p>
            <a:r>
              <a:rPr lang="en-US" dirty="0"/>
              <a:t>Presented by: Kalyani Korde </a:t>
            </a:r>
          </a:p>
          <a:p>
            <a:r>
              <a:rPr lang="en-US" dirty="0"/>
              <a:t>Email:kordekalyani361@gmail.com</a:t>
            </a:r>
          </a:p>
        </p:txBody>
      </p:sp>
    </p:spTree>
    <p:extLst>
      <p:ext uri="{BB962C8B-B14F-4D97-AF65-F5344CB8AC3E}">
        <p14:creationId xmlns:p14="http://schemas.microsoft.com/office/powerpoint/2010/main" val="1512174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8E0EA-0A4D-1CF1-6E41-6F55A78E7D4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2F3BD63-4DA5-5603-9416-D3A2310D8439}"/>
              </a:ext>
            </a:extLst>
          </p:cNvPr>
          <p:cNvPicPr>
            <a:picLocks noGrp="1" noChangeAspect="1"/>
          </p:cNvPicPr>
          <p:nvPr>
            <p:ph idx="1"/>
          </p:nvPr>
        </p:nvPicPr>
        <p:blipFill>
          <a:blip r:embed="rId2"/>
          <a:stretch>
            <a:fillRect/>
          </a:stretch>
        </p:blipFill>
        <p:spPr>
          <a:xfrm>
            <a:off x="502024" y="407104"/>
            <a:ext cx="11385176" cy="6298495"/>
          </a:xfrm>
          <a:prstGeom prst="rect">
            <a:avLst/>
          </a:prstGeom>
        </p:spPr>
      </p:pic>
    </p:spTree>
    <p:extLst>
      <p:ext uri="{BB962C8B-B14F-4D97-AF65-F5344CB8AC3E}">
        <p14:creationId xmlns:p14="http://schemas.microsoft.com/office/powerpoint/2010/main" val="89232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A2A38-C2C2-82C5-90DF-677EB17C722C}"/>
              </a:ext>
            </a:extLst>
          </p:cNvPr>
          <p:cNvSpPr>
            <a:spLocks noGrp="1"/>
          </p:cNvSpPr>
          <p:nvPr>
            <p:ph type="title"/>
          </p:nvPr>
        </p:nvSpPr>
        <p:spPr/>
        <p:txBody>
          <a:bodyPr/>
          <a:lstStyle/>
          <a:p>
            <a:r>
              <a:rPr lang="en-US" dirty="0"/>
              <a:t>Statistics </a:t>
            </a:r>
          </a:p>
        </p:txBody>
      </p:sp>
      <p:sp>
        <p:nvSpPr>
          <p:cNvPr id="3" name="Content Placeholder 2">
            <a:extLst>
              <a:ext uri="{FF2B5EF4-FFF2-40B4-BE49-F238E27FC236}">
                <a16:creationId xmlns:a16="http://schemas.microsoft.com/office/drawing/2014/main" id="{5BEAE05E-7A93-3269-1BA0-8BC57B905EB4}"/>
              </a:ext>
            </a:extLst>
          </p:cNvPr>
          <p:cNvSpPr>
            <a:spLocks noGrp="1"/>
          </p:cNvSpPr>
          <p:nvPr>
            <p:ph idx="1"/>
          </p:nvPr>
        </p:nvSpPr>
        <p:spPr>
          <a:xfrm>
            <a:off x="1295401" y="2556932"/>
            <a:ext cx="9601196" cy="3915586"/>
          </a:xfrm>
        </p:spPr>
        <p:txBody>
          <a:bodyPr/>
          <a:lstStyle/>
          <a:p>
            <a:pPr marL="914400" lvl="2" indent="0">
              <a:buNone/>
            </a:pPr>
            <a:r>
              <a:rPr lang="en-US" b="1" u="sng" dirty="0"/>
              <a:t>Introduction</a:t>
            </a:r>
            <a:r>
              <a:rPr lang="en-US" dirty="0"/>
              <a:t> </a:t>
            </a:r>
            <a:r>
              <a:rPr lang="en-US" b="1" u="sng" dirty="0"/>
              <a:t>to</a:t>
            </a:r>
            <a:r>
              <a:rPr lang="en-US" dirty="0"/>
              <a:t> </a:t>
            </a:r>
            <a:r>
              <a:rPr lang="en-US" b="1" u="sng" dirty="0"/>
              <a:t>statistics</a:t>
            </a:r>
            <a:r>
              <a:rPr lang="en-US" dirty="0"/>
              <a:t> :</a:t>
            </a:r>
          </a:p>
          <a:p>
            <a:pPr marL="914400" lvl="2" indent="0">
              <a:buNone/>
            </a:pPr>
            <a:r>
              <a:rPr lang="en-US" b="1" u="sng" dirty="0"/>
              <a:t>Definition</a:t>
            </a:r>
            <a:r>
              <a:rPr lang="en-US" b="1" dirty="0"/>
              <a:t>: </a:t>
            </a:r>
            <a:r>
              <a:rPr lang="en-US" dirty="0"/>
              <a:t>Facts or pieces of information </a:t>
            </a:r>
          </a:p>
          <a:p>
            <a:pPr marL="914400" lvl="2" indent="0">
              <a:buNone/>
            </a:pPr>
            <a:r>
              <a:rPr lang="en-US" b="1" u="sng" dirty="0"/>
              <a:t>Data</a:t>
            </a:r>
            <a:r>
              <a:rPr lang="en-US" b="1" dirty="0"/>
              <a:t>: </a:t>
            </a:r>
            <a:r>
              <a:rPr lang="en-US" dirty="0"/>
              <a:t>Facts</a:t>
            </a:r>
            <a:r>
              <a:rPr lang="en-US" b="1" dirty="0"/>
              <a:t> </a:t>
            </a:r>
            <a:r>
              <a:rPr lang="en-US" dirty="0"/>
              <a:t>or</a:t>
            </a:r>
            <a:r>
              <a:rPr lang="en-US" b="1" dirty="0"/>
              <a:t> </a:t>
            </a:r>
            <a:r>
              <a:rPr lang="en-US" dirty="0"/>
              <a:t>pieces</a:t>
            </a:r>
            <a:r>
              <a:rPr lang="en-US" b="1" dirty="0"/>
              <a:t> </a:t>
            </a:r>
            <a:r>
              <a:rPr lang="en-US" dirty="0"/>
              <a:t>of</a:t>
            </a:r>
            <a:r>
              <a:rPr lang="en-US" b="1" dirty="0"/>
              <a:t> </a:t>
            </a:r>
            <a:r>
              <a:rPr lang="en-US" dirty="0"/>
              <a:t>information</a:t>
            </a:r>
            <a:r>
              <a:rPr lang="en-US" b="1" dirty="0"/>
              <a:t> </a:t>
            </a:r>
          </a:p>
          <a:p>
            <a:pPr marL="914400" lvl="2" indent="0">
              <a:buNone/>
            </a:pPr>
            <a:r>
              <a:rPr lang="en-US" b="1" dirty="0"/>
              <a:t>   E</a:t>
            </a:r>
            <a:r>
              <a:rPr lang="en-US" b="1" u="sng" dirty="0"/>
              <a:t>.</a:t>
            </a:r>
            <a:r>
              <a:rPr lang="en-US" b="1" dirty="0"/>
              <a:t>g.: 1. Height of students in classroom.</a:t>
            </a:r>
          </a:p>
          <a:p>
            <a:pPr marL="914400" lvl="2" indent="0">
              <a:buNone/>
            </a:pPr>
            <a:r>
              <a:rPr lang="en-US" b="1" dirty="0"/>
              <a:t>             2. No. Of sales in terms of revenue of a company</a:t>
            </a:r>
          </a:p>
          <a:p>
            <a:pPr marL="914400" lvl="2" indent="0">
              <a:buNone/>
            </a:pPr>
            <a:r>
              <a:rPr lang="en-US" b="1" dirty="0"/>
              <a:t>              3.IQ of students in classroom </a:t>
            </a:r>
          </a:p>
          <a:p>
            <a:pPr marL="914400" lvl="2" indent="0">
              <a:buNone/>
            </a:pPr>
            <a:r>
              <a:rPr lang="en-US" b="1" u="sng" dirty="0"/>
              <a:t>Type</a:t>
            </a:r>
            <a:r>
              <a:rPr lang="en-US" b="1" dirty="0"/>
              <a:t> </a:t>
            </a:r>
            <a:r>
              <a:rPr lang="en-US" b="1" u="sng" dirty="0"/>
              <a:t>of</a:t>
            </a:r>
            <a:r>
              <a:rPr lang="en-US" b="1" dirty="0"/>
              <a:t> </a:t>
            </a:r>
            <a:r>
              <a:rPr lang="en-US" b="1" u="sng" dirty="0"/>
              <a:t>statistics</a:t>
            </a:r>
            <a:r>
              <a:rPr lang="en-US" b="1" dirty="0"/>
              <a:t>:</a:t>
            </a:r>
            <a:endParaRPr lang="en-US" b="1" i="1" dirty="0"/>
          </a:p>
          <a:p>
            <a:pPr marL="914400" lvl="2" indent="0">
              <a:buNone/>
            </a:pPr>
            <a:r>
              <a:rPr lang="en-US" b="1" i="1" dirty="0"/>
              <a:t>  </a:t>
            </a:r>
            <a:r>
              <a:rPr lang="en-US" dirty="0"/>
              <a:t>1.Descriptive statistics </a:t>
            </a:r>
          </a:p>
          <a:p>
            <a:pPr marL="914400" lvl="2" indent="0">
              <a:buNone/>
            </a:pPr>
            <a:r>
              <a:rPr lang="en-US" b="1" dirty="0"/>
              <a:t>   </a:t>
            </a:r>
            <a:r>
              <a:rPr lang="en-US" dirty="0"/>
              <a:t>2.Inferential statistics </a:t>
            </a:r>
            <a:endParaRPr lang="en-US" b="1" dirty="0"/>
          </a:p>
        </p:txBody>
      </p:sp>
    </p:spTree>
    <p:extLst>
      <p:ext uri="{BB962C8B-B14F-4D97-AF65-F5344CB8AC3E}">
        <p14:creationId xmlns:p14="http://schemas.microsoft.com/office/powerpoint/2010/main" val="3462575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A2EA-E581-3D37-55CF-E4FBFBFA5E9B}"/>
              </a:ext>
            </a:extLst>
          </p:cNvPr>
          <p:cNvSpPr>
            <a:spLocks noGrp="1"/>
          </p:cNvSpPr>
          <p:nvPr>
            <p:ph type="title"/>
          </p:nvPr>
        </p:nvSpPr>
        <p:spPr/>
        <p:txBody>
          <a:bodyPr>
            <a:normAutofit fontScale="90000"/>
          </a:bodyPr>
          <a:lstStyle/>
          <a:p>
            <a:r>
              <a:rPr lang="en-US" dirty="0"/>
              <a:t>1.Descriptive Statistics </a:t>
            </a:r>
            <a:br>
              <a:rPr lang="en-US" dirty="0"/>
            </a:br>
            <a:endParaRPr lang="en-US" dirty="0"/>
          </a:p>
        </p:txBody>
      </p:sp>
      <p:sp>
        <p:nvSpPr>
          <p:cNvPr id="3" name="Content Placeholder 2">
            <a:extLst>
              <a:ext uri="{FF2B5EF4-FFF2-40B4-BE49-F238E27FC236}">
                <a16:creationId xmlns:a16="http://schemas.microsoft.com/office/drawing/2014/main" id="{DE955538-1237-7CED-5A82-9EDB18EF4D04}"/>
              </a:ext>
            </a:extLst>
          </p:cNvPr>
          <p:cNvSpPr>
            <a:spLocks noGrp="1"/>
          </p:cNvSpPr>
          <p:nvPr>
            <p:ph idx="1"/>
          </p:nvPr>
        </p:nvSpPr>
        <p:spPr>
          <a:xfrm>
            <a:off x="1295401" y="2599765"/>
            <a:ext cx="3671046" cy="3621742"/>
          </a:xfrm>
        </p:spPr>
        <p:txBody>
          <a:bodyPr/>
          <a:lstStyle/>
          <a:p>
            <a:r>
              <a:rPr lang="en-US" dirty="0"/>
              <a:t>1. Descriptive statistics –It is consistent of organizing summarize and visualizing data </a:t>
            </a:r>
          </a:p>
          <a:p>
            <a:r>
              <a:rPr lang="en-US" dirty="0"/>
              <a:t>Example: 1. Measure of central tendenccies.            </a:t>
            </a:r>
          </a:p>
        </p:txBody>
      </p:sp>
      <p:pic>
        <p:nvPicPr>
          <p:cNvPr id="4" name="Picture 3">
            <a:extLst>
              <a:ext uri="{FF2B5EF4-FFF2-40B4-BE49-F238E27FC236}">
                <a16:creationId xmlns:a16="http://schemas.microsoft.com/office/drawing/2014/main" id="{E57EC2B7-0832-3477-0314-54CC79EBE73F}"/>
              </a:ext>
            </a:extLst>
          </p:cNvPr>
          <p:cNvPicPr>
            <a:picLocks noChangeAspect="1"/>
          </p:cNvPicPr>
          <p:nvPr/>
        </p:nvPicPr>
        <p:blipFill>
          <a:blip r:embed="rId2"/>
          <a:stretch>
            <a:fillRect/>
          </a:stretch>
        </p:blipFill>
        <p:spPr>
          <a:xfrm>
            <a:off x="6096000" y="2371660"/>
            <a:ext cx="3849847" cy="3849847"/>
          </a:xfrm>
          <a:prstGeom prst="rect">
            <a:avLst/>
          </a:prstGeom>
        </p:spPr>
      </p:pic>
    </p:spTree>
    <p:extLst>
      <p:ext uri="{BB962C8B-B14F-4D97-AF65-F5344CB8AC3E}">
        <p14:creationId xmlns:p14="http://schemas.microsoft.com/office/powerpoint/2010/main" val="1778390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31CFE-E12B-1591-296C-F0209462FB3B}"/>
              </a:ext>
            </a:extLst>
          </p:cNvPr>
          <p:cNvSpPr>
            <a:spLocks noGrp="1"/>
          </p:cNvSpPr>
          <p:nvPr>
            <p:ph type="title"/>
          </p:nvPr>
        </p:nvSpPr>
        <p:spPr>
          <a:xfrm>
            <a:off x="1295402" y="982132"/>
            <a:ext cx="9601196" cy="909421"/>
          </a:xfrm>
        </p:spPr>
        <p:txBody>
          <a:bodyPr/>
          <a:lstStyle/>
          <a:p>
            <a:r>
              <a:rPr lang="en-US" dirty="0"/>
              <a:t>2.Inferential Statistics </a:t>
            </a:r>
          </a:p>
        </p:txBody>
      </p:sp>
      <p:sp>
        <p:nvSpPr>
          <p:cNvPr id="3" name="Content Placeholder 2">
            <a:extLst>
              <a:ext uri="{FF2B5EF4-FFF2-40B4-BE49-F238E27FC236}">
                <a16:creationId xmlns:a16="http://schemas.microsoft.com/office/drawing/2014/main" id="{5E734F92-5E4D-B2EF-BDE6-2C94DB8CB242}"/>
              </a:ext>
            </a:extLst>
          </p:cNvPr>
          <p:cNvSpPr>
            <a:spLocks noGrp="1"/>
          </p:cNvSpPr>
          <p:nvPr>
            <p:ph idx="1"/>
          </p:nvPr>
        </p:nvSpPr>
        <p:spPr>
          <a:xfrm>
            <a:off x="1295402" y="1577789"/>
            <a:ext cx="9601196" cy="4876800"/>
          </a:xfrm>
        </p:spPr>
        <p:txBody>
          <a:bodyPr>
            <a:normAutofit/>
          </a:bodyPr>
          <a:lstStyle/>
          <a:p>
            <a:r>
              <a:rPr lang="en-US" dirty="0"/>
              <a:t>Inferential statistics are used to make conclusion about the population by using analysis tools on the sample data.</a:t>
            </a:r>
          </a:p>
          <a:p>
            <a:r>
              <a:rPr lang="en-US" dirty="0"/>
              <a:t>Measure of inferential statistics are </a:t>
            </a:r>
          </a:p>
          <a:p>
            <a:pPr marL="457200" indent="-457200">
              <a:buFont typeface="+mj-lt"/>
              <a:buAutoNum type="arabicPeriod"/>
            </a:pPr>
            <a:r>
              <a:rPr lang="en-US" dirty="0"/>
              <a:t>T-test</a:t>
            </a:r>
          </a:p>
          <a:p>
            <a:pPr marL="457200" indent="-457200">
              <a:buFont typeface="+mj-lt"/>
              <a:buAutoNum type="arabicPeriod"/>
            </a:pPr>
            <a:r>
              <a:rPr lang="en-US" dirty="0"/>
              <a:t>Z-test </a:t>
            </a:r>
          </a:p>
          <a:p>
            <a:pPr marL="457200" indent="-457200">
              <a:buFont typeface="+mj-lt"/>
              <a:buAutoNum type="arabicPeriod"/>
            </a:pPr>
            <a:r>
              <a:rPr lang="en-US" dirty="0"/>
              <a:t>Chi square test </a:t>
            </a:r>
          </a:p>
          <a:p>
            <a:pPr marL="457200" indent="-457200">
              <a:buFont typeface="+mj-lt"/>
              <a:buAutoNum type="arabicPeriod"/>
            </a:pPr>
            <a:r>
              <a:rPr lang="en-US" dirty="0"/>
              <a:t>Anova test</a:t>
            </a:r>
          </a:p>
          <a:p>
            <a:pPr marL="457200" indent="-457200">
              <a:buFont typeface="+mj-lt"/>
              <a:buAutoNum type="arabicPeriod"/>
            </a:pPr>
            <a:r>
              <a:rPr lang="en-US" dirty="0"/>
              <a:t>P_value</a:t>
            </a:r>
          </a:p>
          <a:p>
            <a:pPr marL="457200" indent="-457200">
              <a:buFont typeface="+mj-lt"/>
              <a:buAutoNum type="arabicPeriod"/>
            </a:pPr>
            <a:endParaRPr lang="en-US" dirty="0"/>
          </a:p>
        </p:txBody>
      </p:sp>
    </p:spTree>
    <p:extLst>
      <p:ext uri="{BB962C8B-B14F-4D97-AF65-F5344CB8AC3E}">
        <p14:creationId xmlns:p14="http://schemas.microsoft.com/office/powerpoint/2010/main" val="835906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7C6D-1055-40DB-81AB-F19A96D5DC54}"/>
              </a:ext>
            </a:extLst>
          </p:cNvPr>
          <p:cNvSpPr>
            <a:spLocks noGrp="1"/>
          </p:cNvSpPr>
          <p:nvPr>
            <p:ph type="title"/>
          </p:nvPr>
        </p:nvSpPr>
        <p:spPr>
          <a:xfrm>
            <a:off x="1295402" y="982132"/>
            <a:ext cx="9601196" cy="757021"/>
          </a:xfrm>
        </p:spPr>
        <p:txBody>
          <a:bodyPr>
            <a:normAutofit fontScale="90000"/>
          </a:bodyPr>
          <a:lstStyle/>
          <a:p>
            <a:r>
              <a:rPr lang="en-US" dirty="0"/>
              <a:t>Question ❓</a:t>
            </a:r>
          </a:p>
        </p:txBody>
      </p:sp>
      <p:sp>
        <p:nvSpPr>
          <p:cNvPr id="3" name="Content Placeholder 2">
            <a:extLst>
              <a:ext uri="{FF2B5EF4-FFF2-40B4-BE49-F238E27FC236}">
                <a16:creationId xmlns:a16="http://schemas.microsoft.com/office/drawing/2014/main" id="{10427FCB-D3BA-0ACB-8A84-7B685D6547F3}"/>
              </a:ext>
            </a:extLst>
          </p:cNvPr>
          <p:cNvSpPr>
            <a:spLocks noGrp="1"/>
          </p:cNvSpPr>
          <p:nvPr>
            <p:ph idx="1"/>
          </p:nvPr>
        </p:nvSpPr>
        <p:spPr>
          <a:xfrm>
            <a:off x="735106" y="1739153"/>
            <a:ext cx="10829365" cy="4607859"/>
          </a:xfrm>
        </p:spPr>
        <p:txBody>
          <a:bodyPr>
            <a:normAutofit/>
          </a:bodyPr>
          <a:lstStyle/>
          <a:p>
            <a:pPr marL="457200" indent="-457200">
              <a:buFont typeface="+mj-lt"/>
              <a:buAutoNum type="arabicPeriod"/>
            </a:pPr>
            <a:r>
              <a:rPr lang="en-US" dirty="0"/>
              <a:t>Let say there are 10 cricket camp in Bangalore and you have collected the height of cricketers from one of the camp.</a:t>
            </a:r>
          </a:p>
          <a:p>
            <a:r>
              <a:rPr lang="en-US" dirty="0"/>
              <a:t>Height is recorded are (175cm,180cm,140cm,135cm,160cm,135cm)</a:t>
            </a:r>
          </a:p>
          <a:p>
            <a:pPr marL="0" indent="0">
              <a:buNone/>
            </a:pPr>
            <a:r>
              <a:rPr lang="en-US" dirty="0"/>
              <a:t>2.Descriptive Question –</a:t>
            </a:r>
          </a:p>
          <a:p>
            <a:r>
              <a:rPr lang="en-US" dirty="0"/>
              <a:t>What is the average height of entire camp.</a:t>
            </a:r>
          </a:p>
          <a:p>
            <a:r>
              <a:rPr lang="en-US" dirty="0"/>
              <a:t>Disturbance of a Data </a:t>
            </a:r>
          </a:p>
          <a:p>
            <a:r>
              <a:rPr lang="en-US" dirty="0"/>
              <a:t>Are the average height of player of camp 1similar to that of camp2.</a:t>
            </a:r>
          </a:p>
          <a:p>
            <a:r>
              <a:rPr lang="en-US" dirty="0"/>
              <a:t>140cm how many STD it is away from mean.</a:t>
            </a:r>
          </a:p>
          <a:p>
            <a:endParaRPr lang="en-US" dirty="0"/>
          </a:p>
        </p:txBody>
      </p:sp>
    </p:spTree>
    <p:extLst>
      <p:ext uri="{BB962C8B-B14F-4D97-AF65-F5344CB8AC3E}">
        <p14:creationId xmlns:p14="http://schemas.microsoft.com/office/powerpoint/2010/main" val="185067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D2E3D-87F4-BC56-C544-44AB1ADACC28}"/>
              </a:ext>
            </a:extLst>
          </p:cNvPr>
          <p:cNvSpPr>
            <a:spLocks noGrp="1"/>
          </p:cNvSpPr>
          <p:nvPr>
            <p:ph type="title"/>
          </p:nvPr>
        </p:nvSpPr>
        <p:spPr>
          <a:xfrm>
            <a:off x="1295402" y="822761"/>
            <a:ext cx="9601196" cy="1303867"/>
          </a:xfrm>
        </p:spPr>
        <p:txBody>
          <a:bodyPr/>
          <a:lstStyle/>
          <a:p>
            <a:r>
              <a:rPr lang="en-US" dirty="0"/>
              <a:t>Population and sample data </a:t>
            </a:r>
          </a:p>
        </p:txBody>
      </p:sp>
      <p:pic>
        <p:nvPicPr>
          <p:cNvPr id="4" name="Picture 3">
            <a:extLst>
              <a:ext uri="{FF2B5EF4-FFF2-40B4-BE49-F238E27FC236}">
                <a16:creationId xmlns:a16="http://schemas.microsoft.com/office/drawing/2014/main" id="{96F1F45C-9983-26CC-6513-2DDC7250B78B}"/>
              </a:ext>
            </a:extLst>
          </p:cNvPr>
          <p:cNvPicPr>
            <a:picLocks noChangeAspect="1"/>
          </p:cNvPicPr>
          <p:nvPr/>
        </p:nvPicPr>
        <p:blipFill>
          <a:blip r:embed="rId2"/>
          <a:stretch>
            <a:fillRect/>
          </a:stretch>
        </p:blipFill>
        <p:spPr>
          <a:xfrm>
            <a:off x="4930588" y="2285999"/>
            <a:ext cx="6611470" cy="3589869"/>
          </a:xfrm>
          <a:prstGeom prst="rect">
            <a:avLst/>
          </a:prstGeom>
        </p:spPr>
      </p:pic>
      <p:sp>
        <p:nvSpPr>
          <p:cNvPr id="6" name="Content Placeholder 5">
            <a:extLst>
              <a:ext uri="{FF2B5EF4-FFF2-40B4-BE49-F238E27FC236}">
                <a16:creationId xmlns:a16="http://schemas.microsoft.com/office/drawing/2014/main" id="{40BA7C23-F6F8-61A2-532E-1840032AC844}"/>
              </a:ext>
            </a:extLst>
          </p:cNvPr>
          <p:cNvSpPr>
            <a:spLocks noGrp="1"/>
          </p:cNvSpPr>
          <p:nvPr>
            <p:ph idx="1"/>
          </p:nvPr>
        </p:nvSpPr>
        <p:spPr/>
        <p:txBody>
          <a:bodyPr/>
          <a:lstStyle/>
          <a:p>
            <a:r>
              <a:rPr lang="en-US" dirty="0"/>
              <a:t>Population data(N): Population is a group </a:t>
            </a:r>
          </a:p>
          <a:p>
            <a:pPr marL="0" indent="0">
              <a:buNone/>
            </a:pPr>
            <a:r>
              <a:rPr lang="en-US" dirty="0"/>
              <a:t>Or a subset of data that you are interested </a:t>
            </a:r>
          </a:p>
          <a:p>
            <a:pPr marL="0" indent="0">
              <a:buNone/>
            </a:pPr>
            <a:r>
              <a:rPr lang="en-US" dirty="0"/>
              <a:t>Studying.</a:t>
            </a:r>
          </a:p>
          <a:p>
            <a:pPr marL="0" indent="0">
              <a:buNone/>
            </a:pPr>
            <a:r>
              <a:rPr lang="en-US" dirty="0"/>
              <a:t>Sample data(n): A sample is a subset of population data.</a:t>
            </a:r>
          </a:p>
        </p:txBody>
      </p:sp>
    </p:spTree>
    <p:extLst>
      <p:ext uri="{BB962C8B-B14F-4D97-AF65-F5344CB8AC3E}">
        <p14:creationId xmlns:p14="http://schemas.microsoft.com/office/powerpoint/2010/main" val="132324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47FBB-B0B3-47E8-144D-CD47C6346695}"/>
              </a:ext>
            </a:extLst>
          </p:cNvPr>
          <p:cNvSpPr>
            <a:spLocks noGrp="1"/>
          </p:cNvSpPr>
          <p:nvPr>
            <p:ph type="title"/>
          </p:nvPr>
        </p:nvSpPr>
        <p:spPr>
          <a:xfrm>
            <a:off x="1528484" y="0"/>
            <a:ext cx="9601196" cy="1303867"/>
          </a:xfrm>
        </p:spPr>
        <p:txBody>
          <a:bodyPr/>
          <a:lstStyle/>
          <a:p>
            <a:r>
              <a:rPr lang="en-US" dirty="0"/>
              <a:t>Type of Data</a:t>
            </a:r>
          </a:p>
        </p:txBody>
      </p:sp>
      <p:pic>
        <p:nvPicPr>
          <p:cNvPr id="4" name="Content Placeholder 3">
            <a:extLst>
              <a:ext uri="{FF2B5EF4-FFF2-40B4-BE49-F238E27FC236}">
                <a16:creationId xmlns:a16="http://schemas.microsoft.com/office/drawing/2014/main" id="{A0FC1D3B-5D3F-29D6-FB2B-D1298E52E3EC}"/>
              </a:ext>
            </a:extLst>
          </p:cNvPr>
          <p:cNvPicPr>
            <a:picLocks noGrp="1" noChangeAspect="1"/>
          </p:cNvPicPr>
          <p:nvPr>
            <p:ph idx="1"/>
          </p:nvPr>
        </p:nvPicPr>
        <p:blipFill>
          <a:blip r:embed="rId2"/>
          <a:stretch>
            <a:fillRect/>
          </a:stretch>
        </p:blipFill>
        <p:spPr>
          <a:xfrm>
            <a:off x="125507" y="-230890"/>
            <a:ext cx="12066494" cy="7088889"/>
          </a:xfrm>
          <a:prstGeom prst="rect">
            <a:avLst/>
          </a:prstGeom>
        </p:spPr>
      </p:pic>
    </p:spTree>
    <p:extLst>
      <p:ext uri="{BB962C8B-B14F-4D97-AF65-F5344CB8AC3E}">
        <p14:creationId xmlns:p14="http://schemas.microsoft.com/office/powerpoint/2010/main" val="2514737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919ED-E5F6-32A0-47A5-75C2675402FB}"/>
              </a:ext>
            </a:extLst>
          </p:cNvPr>
          <p:cNvSpPr>
            <a:spLocks noGrp="1"/>
          </p:cNvSpPr>
          <p:nvPr>
            <p:ph type="title"/>
          </p:nvPr>
        </p:nvSpPr>
        <p:spPr/>
        <p:txBody>
          <a:bodyPr/>
          <a:lstStyle/>
          <a:p>
            <a:r>
              <a:rPr lang="en-US" dirty="0">
                <a:solidFill>
                  <a:schemeClr val="accent4"/>
                </a:solidFill>
              </a:rPr>
              <a:t>Descriptive</a:t>
            </a:r>
            <a:r>
              <a:rPr lang="en-US" dirty="0"/>
              <a:t> </a:t>
            </a:r>
            <a:r>
              <a:rPr lang="en-US" dirty="0">
                <a:solidFill>
                  <a:schemeClr val="accent4"/>
                </a:solidFill>
              </a:rPr>
              <a:t>statistics</a:t>
            </a:r>
            <a:r>
              <a:rPr lang="en-US" dirty="0"/>
              <a:t> </a:t>
            </a:r>
          </a:p>
        </p:txBody>
      </p:sp>
      <p:sp>
        <p:nvSpPr>
          <p:cNvPr id="3" name="Content Placeholder 2">
            <a:extLst>
              <a:ext uri="{FF2B5EF4-FFF2-40B4-BE49-F238E27FC236}">
                <a16:creationId xmlns:a16="http://schemas.microsoft.com/office/drawing/2014/main" id="{767C35FF-5C1D-7E28-52F0-FADCAEA63B4A}"/>
              </a:ext>
            </a:extLst>
          </p:cNvPr>
          <p:cNvSpPr>
            <a:spLocks noGrp="1"/>
          </p:cNvSpPr>
          <p:nvPr>
            <p:ph idx="1"/>
          </p:nvPr>
        </p:nvSpPr>
        <p:spPr/>
        <p:txBody>
          <a:bodyPr/>
          <a:lstStyle/>
          <a:p>
            <a:r>
              <a:rPr lang="en-US" dirty="0"/>
              <a:t>1.Measure of central tendency:</a:t>
            </a:r>
          </a:p>
          <a:p>
            <a:pPr marL="457200" indent="-457200">
              <a:buFont typeface="+mj-lt"/>
              <a:buAutoNum type="arabicPeriod"/>
            </a:pPr>
            <a:r>
              <a:rPr lang="en-US" dirty="0"/>
              <a:t>Means</a:t>
            </a:r>
          </a:p>
          <a:p>
            <a:pPr marL="457200" indent="-457200">
              <a:buFont typeface="+mj-lt"/>
              <a:buAutoNum type="arabicPeriod"/>
            </a:pPr>
            <a:r>
              <a:rPr lang="en-US" dirty="0"/>
              <a:t>Median </a:t>
            </a:r>
          </a:p>
          <a:p>
            <a:pPr marL="457200" indent="-457200">
              <a:buFont typeface="+mj-lt"/>
              <a:buAutoNum type="arabicPeriod"/>
            </a:pPr>
            <a:r>
              <a:rPr lang="en-US" dirty="0"/>
              <a:t>Mode</a:t>
            </a:r>
          </a:p>
        </p:txBody>
      </p:sp>
    </p:spTree>
    <p:extLst>
      <p:ext uri="{BB962C8B-B14F-4D97-AF65-F5344CB8AC3E}">
        <p14:creationId xmlns:p14="http://schemas.microsoft.com/office/powerpoint/2010/main" val="3294208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1BB81-E5B8-FF1A-11C6-CD4DD8612BA3}"/>
              </a:ext>
            </a:extLst>
          </p:cNvPr>
          <p:cNvSpPr>
            <a:spLocks noGrp="1"/>
          </p:cNvSpPr>
          <p:nvPr>
            <p:ph type="title"/>
          </p:nvPr>
        </p:nvSpPr>
        <p:spPr>
          <a:xfrm>
            <a:off x="1295402" y="982132"/>
            <a:ext cx="9601196" cy="577727"/>
          </a:xfrm>
        </p:spPr>
        <p:txBody>
          <a:bodyPr>
            <a:normAutofit fontScale="90000"/>
          </a:bodyPr>
          <a:lstStyle/>
          <a:p>
            <a:r>
              <a:rPr lang="en-US" dirty="0">
                <a:solidFill>
                  <a:schemeClr val="tx2"/>
                </a:solidFill>
              </a:rPr>
              <a:t>Mean , Mode  and Median </a:t>
            </a:r>
          </a:p>
        </p:txBody>
      </p:sp>
      <p:sp>
        <p:nvSpPr>
          <p:cNvPr id="3" name="Content Placeholder 2">
            <a:extLst>
              <a:ext uri="{FF2B5EF4-FFF2-40B4-BE49-F238E27FC236}">
                <a16:creationId xmlns:a16="http://schemas.microsoft.com/office/drawing/2014/main" id="{5F3DBD3C-0131-D26F-C76D-FF80B071C9EC}"/>
              </a:ext>
            </a:extLst>
          </p:cNvPr>
          <p:cNvSpPr>
            <a:spLocks noGrp="1"/>
          </p:cNvSpPr>
          <p:nvPr>
            <p:ph idx="1"/>
          </p:nvPr>
        </p:nvSpPr>
        <p:spPr>
          <a:xfrm>
            <a:off x="699247" y="1344706"/>
            <a:ext cx="10811435" cy="5513293"/>
          </a:xfrm>
        </p:spPr>
        <p:txBody>
          <a:bodyPr>
            <a:normAutofit/>
          </a:bodyPr>
          <a:lstStyle/>
          <a:p>
            <a:r>
              <a:rPr lang="en-US" dirty="0"/>
              <a:t>1.</a:t>
            </a:r>
            <a:r>
              <a:rPr lang="en-US" dirty="0">
                <a:solidFill>
                  <a:schemeClr val="accent4"/>
                </a:solidFill>
              </a:rPr>
              <a:t>Mean</a:t>
            </a:r>
            <a:r>
              <a:rPr lang="en-US" dirty="0"/>
              <a:t>:The mean represents the average value of the data set it can be calculated as the sum of the value in the dataset by the number of value.</a:t>
            </a:r>
          </a:p>
          <a:p>
            <a:pPr marL="0" indent="0">
              <a:buNone/>
            </a:pPr>
            <a:r>
              <a:rPr lang="en-US" dirty="0"/>
              <a:t>Means=x1+x2+x3/n</a:t>
            </a:r>
          </a:p>
          <a:p>
            <a:pPr marL="0" indent="0">
              <a:buNone/>
            </a:pPr>
            <a:endParaRPr lang="en-US" dirty="0"/>
          </a:p>
          <a:p>
            <a:pPr marL="0" indent="0">
              <a:buNone/>
            </a:pPr>
            <a:r>
              <a:rPr lang="en-US" dirty="0"/>
              <a:t>2.</a:t>
            </a:r>
            <a:r>
              <a:rPr lang="en-US" dirty="0">
                <a:solidFill>
                  <a:schemeClr val="accent4"/>
                </a:solidFill>
              </a:rPr>
              <a:t>Median</a:t>
            </a:r>
            <a:r>
              <a:rPr lang="en-US" dirty="0"/>
              <a:t>  Median is the middle value of the data set in which the data set is arranged in the ascending in order or in decreasing order. When the dataset contains an even number of value,then the median value of the dataset can be found by taking the mean of the middle two values. Considered the given dataset with the odd number of observation is arranged in descending order (24,21,18,16,15,13,12,10,9,7,6,5and2)</a:t>
            </a:r>
          </a:p>
          <a:p>
            <a:pPr marL="0" indent="0">
              <a:buNone/>
            </a:pPr>
            <a:r>
              <a:rPr lang="en-US" dirty="0"/>
              <a:t>Answer:12 </a:t>
            </a:r>
          </a:p>
        </p:txBody>
      </p:sp>
    </p:spTree>
    <p:extLst>
      <p:ext uri="{BB962C8B-B14F-4D97-AF65-F5344CB8AC3E}">
        <p14:creationId xmlns:p14="http://schemas.microsoft.com/office/powerpoint/2010/main" val="50795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DBCF-528B-15FF-69E7-4D74972B8A32}"/>
              </a:ext>
            </a:extLst>
          </p:cNvPr>
          <p:cNvSpPr>
            <a:spLocks noGrp="1"/>
          </p:cNvSpPr>
          <p:nvPr>
            <p:ph type="title"/>
          </p:nvPr>
        </p:nvSpPr>
        <p:spPr>
          <a:xfrm>
            <a:off x="1425388" y="982132"/>
            <a:ext cx="9471210" cy="1016997"/>
          </a:xfrm>
        </p:spPr>
        <p:txBody>
          <a:bodyPr/>
          <a:lstStyle/>
          <a:p>
            <a:r>
              <a:rPr lang="en-US" dirty="0"/>
              <a:t>Central tendency </a:t>
            </a:r>
          </a:p>
        </p:txBody>
      </p:sp>
      <p:sp>
        <p:nvSpPr>
          <p:cNvPr id="3" name="Content Placeholder 2">
            <a:extLst>
              <a:ext uri="{FF2B5EF4-FFF2-40B4-BE49-F238E27FC236}">
                <a16:creationId xmlns:a16="http://schemas.microsoft.com/office/drawing/2014/main" id="{97C2AB64-1AB3-8EB5-5DEA-00A8009479A8}"/>
              </a:ext>
            </a:extLst>
          </p:cNvPr>
          <p:cNvSpPr>
            <a:spLocks noGrp="1"/>
          </p:cNvSpPr>
          <p:nvPr>
            <p:ph idx="1"/>
          </p:nvPr>
        </p:nvSpPr>
        <p:spPr>
          <a:xfrm>
            <a:off x="896471" y="1999129"/>
            <a:ext cx="10000126" cy="3876739"/>
          </a:xfrm>
        </p:spPr>
        <p:txBody>
          <a:bodyPr>
            <a:normAutofit/>
          </a:bodyPr>
          <a:lstStyle/>
          <a:p>
            <a:r>
              <a:rPr lang="en-US" dirty="0"/>
              <a:t>If the given dataset represent (40,38,35,30,29,27,26,24,23,22,19,17)</a:t>
            </a:r>
          </a:p>
          <a:p>
            <a:pPr marL="0" indent="0">
              <a:buNone/>
            </a:pPr>
            <a:r>
              <a:rPr lang="en-US" dirty="0"/>
              <a:t>N+1/2=27+29/2=28</a:t>
            </a:r>
          </a:p>
          <a:p>
            <a:pPr marL="0" indent="0">
              <a:buNone/>
            </a:pPr>
            <a:r>
              <a:rPr lang="en-US" dirty="0"/>
              <a:t> Therefore ,the median for the given data distribution is 28.</a:t>
            </a:r>
          </a:p>
          <a:p>
            <a:pPr marL="0" indent="0">
              <a:buNone/>
            </a:pPr>
            <a:r>
              <a:rPr lang="en-US" dirty="0"/>
              <a:t>3.</a:t>
            </a:r>
            <a:r>
              <a:rPr lang="en-US" dirty="0">
                <a:solidFill>
                  <a:schemeClr val="accent4"/>
                </a:solidFill>
              </a:rPr>
              <a:t>Mode</a:t>
            </a:r>
            <a:r>
              <a:rPr lang="en-US" dirty="0"/>
              <a:t>:The mode represents the frequent occuring value in the dataset. Sometimes the dataset may contain multiple model and in some cases it does not contain any mode at all</a:t>
            </a:r>
          </a:p>
          <a:p>
            <a:pPr marL="0" indent="0">
              <a:buNone/>
            </a:pPr>
            <a:r>
              <a:rPr lang="en-US" dirty="0"/>
              <a:t>Considered given dataset 5,4,2,3,2,1,5,4,5</a:t>
            </a:r>
          </a:p>
          <a:p>
            <a:pPr marL="0" indent="0">
              <a:buNone/>
            </a:pPr>
            <a:r>
              <a:rPr lang="en-US" dirty="0"/>
              <a:t>Mode=5</a:t>
            </a:r>
          </a:p>
        </p:txBody>
      </p:sp>
    </p:spTree>
    <p:extLst>
      <p:ext uri="{BB962C8B-B14F-4D97-AF65-F5344CB8AC3E}">
        <p14:creationId xmlns:p14="http://schemas.microsoft.com/office/powerpoint/2010/main" val="2638937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B4553-FA78-2216-4D70-B888528DE8C7}"/>
              </a:ext>
            </a:extLst>
          </p:cNvPr>
          <p:cNvSpPr>
            <a:spLocks noGrp="1"/>
          </p:cNvSpPr>
          <p:nvPr>
            <p:ph type="title"/>
          </p:nvPr>
        </p:nvSpPr>
        <p:spPr>
          <a:xfrm>
            <a:off x="1295402" y="982132"/>
            <a:ext cx="9601196" cy="559797"/>
          </a:xfrm>
        </p:spPr>
        <p:txBody>
          <a:bodyPr>
            <a:normAutofit fontScale="90000"/>
          </a:bodyPr>
          <a:lstStyle/>
          <a:p>
            <a:r>
              <a:rPr lang="en-US" dirty="0"/>
              <a:t>2.Measure of dispersion </a:t>
            </a:r>
          </a:p>
        </p:txBody>
      </p:sp>
      <p:sp>
        <p:nvSpPr>
          <p:cNvPr id="3" name="Content Placeholder 2">
            <a:extLst>
              <a:ext uri="{FF2B5EF4-FFF2-40B4-BE49-F238E27FC236}">
                <a16:creationId xmlns:a16="http://schemas.microsoft.com/office/drawing/2014/main" id="{0ED54F32-F1B0-80D6-9E2C-BC6F53039706}"/>
              </a:ext>
            </a:extLst>
          </p:cNvPr>
          <p:cNvSpPr>
            <a:spLocks noGrp="1"/>
          </p:cNvSpPr>
          <p:nvPr>
            <p:ph idx="1"/>
          </p:nvPr>
        </p:nvSpPr>
        <p:spPr>
          <a:xfrm>
            <a:off x="1295401" y="1739153"/>
            <a:ext cx="9601196" cy="4136715"/>
          </a:xfrm>
        </p:spPr>
        <p:txBody>
          <a:bodyPr>
            <a:normAutofit/>
          </a:bodyPr>
          <a:lstStyle/>
          <a:p>
            <a:r>
              <a:rPr lang="en-US" dirty="0"/>
              <a:t>Dispersion is the state of getting dispersed or spread. Statistical dispersion means the extent to which numerical data is likely to vary in the value.</a:t>
            </a:r>
          </a:p>
          <a:p>
            <a:pPr marL="457200" indent="-457200">
              <a:buFont typeface="+mj-lt"/>
              <a:buAutoNum type="arabicPeriod"/>
            </a:pPr>
            <a:r>
              <a:rPr lang="en-US" dirty="0"/>
              <a:t>Range </a:t>
            </a:r>
          </a:p>
          <a:p>
            <a:pPr marL="457200" indent="-457200">
              <a:buFont typeface="+mj-lt"/>
              <a:buAutoNum type="arabicPeriod"/>
            </a:pPr>
            <a:r>
              <a:rPr lang="en-US" dirty="0"/>
              <a:t>Variance </a:t>
            </a:r>
          </a:p>
          <a:p>
            <a:pPr marL="457200" indent="-457200">
              <a:buFont typeface="+mj-lt"/>
              <a:buAutoNum type="arabicPeriod"/>
            </a:pPr>
            <a:r>
              <a:rPr lang="en-US" dirty="0"/>
              <a:t>Standard deviations </a:t>
            </a:r>
          </a:p>
          <a:p>
            <a:pPr marL="457200" indent="-457200">
              <a:buFont typeface="+mj-lt"/>
              <a:buAutoNum type="arabicPeriod"/>
            </a:pPr>
            <a:r>
              <a:rPr lang="en-US" dirty="0"/>
              <a:t>Coefficient of variation (cv)</a:t>
            </a:r>
          </a:p>
          <a:p>
            <a:pPr marL="457200" indent="-457200">
              <a:buFont typeface="+mj-lt"/>
              <a:buAutoNum type="arabicPeriod"/>
            </a:pPr>
            <a:r>
              <a:rPr lang="en-US" dirty="0"/>
              <a:t>Correction </a:t>
            </a:r>
          </a:p>
        </p:txBody>
      </p:sp>
    </p:spTree>
    <p:extLst>
      <p:ext uri="{BB962C8B-B14F-4D97-AF65-F5344CB8AC3E}">
        <p14:creationId xmlns:p14="http://schemas.microsoft.com/office/powerpoint/2010/main" val="33846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0098B-DC06-3C3F-CBD4-43884AA0D9CC}"/>
              </a:ext>
            </a:extLst>
          </p:cNvPr>
          <p:cNvSpPr>
            <a:spLocks noGrp="1"/>
          </p:cNvSpPr>
          <p:nvPr>
            <p:ph type="title"/>
          </p:nvPr>
        </p:nvSpPr>
        <p:spPr>
          <a:xfrm>
            <a:off x="1295402" y="430307"/>
            <a:ext cx="9601196" cy="1201270"/>
          </a:xfrm>
        </p:spPr>
        <p:txBody>
          <a:bodyPr/>
          <a:lstStyle/>
          <a:p>
            <a:r>
              <a:rPr lang="en-US" dirty="0"/>
              <a:t>Measure of dispersion </a:t>
            </a:r>
          </a:p>
        </p:txBody>
      </p:sp>
      <p:sp>
        <p:nvSpPr>
          <p:cNvPr id="3" name="Content Placeholder 2">
            <a:extLst>
              <a:ext uri="{FF2B5EF4-FFF2-40B4-BE49-F238E27FC236}">
                <a16:creationId xmlns:a16="http://schemas.microsoft.com/office/drawing/2014/main" id="{C9E5C06E-CAB8-8193-578F-2FBAE5955338}"/>
              </a:ext>
            </a:extLst>
          </p:cNvPr>
          <p:cNvSpPr>
            <a:spLocks noGrp="1"/>
          </p:cNvSpPr>
          <p:nvPr>
            <p:ph idx="1"/>
          </p:nvPr>
        </p:nvSpPr>
        <p:spPr>
          <a:xfrm>
            <a:off x="788894" y="2223247"/>
            <a:ext cx="9601196" cy="4069977"/>
          </a:xfrm>
        </p:spPr>
        <p:txBody>
          <a:bodyPr/>
          <a:lstStyle/>
          <a:p>
            <a:pPr marL="457200" indent="-457200">
              <a:buFont typeface="+mj-lt"/>
              <a:buAutoNum type="arabicPeriod"/>
            </a:pPr>
            <a:r>
              <a:rPr lang="en-US" u="sng" dirty="0">
                <a:solidFill>
                  <a:schemeClr val="tx2"/>
                </a:solidFill>
              </a:rPr>
              <a:t>Range</a:t>
            </a:r>
            <a:r>
              <a:rPr lang="en-US" dirty="0"/>
              <a:t>  :It is difference between the maximum and minimum value of the data set.</a:t>
            </a:r>
          </a:p>
          <a:p>
            <a:r>
              <a:rPr lang="en-US" dirty="0"/>
              <a:t>It is affected by outlier </a:t>
            </a:r>
          </a:p>
          <a:p>
            <a:r>
              <a:rPr lang="en-US" dirty="0"/>
              <a:t>Class room age (17,18,19,20,18,20,18,17,71)</a:t>
            </a:r>
          </a:p>
          <a:p>
            <a:r>
              <a:rPr lang="en-US" dirty="0"/>
              <a:t>Here 71 is the outlier.</a:t>
            </a:r>
          </a:p>
        </p:txBody>
      </p:sp>
    </p:spTree>
    <p:extLst>
      <p:ext uri="{BB962C8B-B14F-4D97-AF65-F5344CB8AC3E}">
        <p14:creationId xmlns:p14="http://schemas.microsoft.com/office/powerpoint/2010/main" val="2400093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57F2A-2CA8-65C2-FAF9-BEE64352D56E}"/>
              </a:ext>
            </a:extLst>
          </p:cNvPr>
          <p:cNvSpPr>
            <a:spLocks noGrp="1"/>
          </p:cNvSpPr>
          <p:nvPr>
            <p:ph type="title"/>
          </p:nvPr>
        </p:nvSpPr>
        <p:spPr>
          <a:xfrm>
            <a:off x="1295402" y="982132"/>
            <a:ext cx="8942292" cy="398433"/>
          </a:xfrm>
        </p:spPr>
        <p:txBody>
          <a:bodyPr>
            <a:normAutofit fontScale="90000"/>
          </a:bodyPr>
          <a:lstStyle/>
          <a:p>
            <a:r>
              <a:rPr lang="en-US" dirty="0"/>
              <a:t>2.varience</a:t>
            </a:r>
          </a:p>
        </p:txBody>
      </p:sp>
      <p:sp>
        <p:nvSpPr>
          <p:cNvPr id="6" name="Content Placeholder 5">
            <a:extLst>
              <a:ext uri="{FF2B5EF4-FFF2-40B4-BE49-F238E27FC236}">
                <a16:creationId xmlns:a16="http://schemas.microsoft.com/office/drawing/2014/main" id="{8981012E-D972-AE15-10F2-F026FB4AAFCC}"/>
              </a:ext>
            </a:extLst>
          </p:cNvPr>
          <p:cNvSpPr>
            <a:spLocks noGrp="1"/>
          </p:cNvSpPr>
          <p:nvPr>
            <p:ph idx="1"/>
          </p:nvPr>
        </p:nvSpPr>
        <p:spPr>
          <a:xfrm>
            <a:off x="681318" y="1631576"/>
            <a:ext cx="3872753" cy="4697506"/>
          </a:xfrm>
        </p:spPr>
        <p:txBody>
          <a:bodyPr/>
          <a:lstStyle/>
          <a:p>
            <a:r>
              <a:rPr lang="en-US" dirty="0"/>
              <a:t>The sample variance is divided by n-1 so that we can create an unbiased estimator of the population variance.</a:t>
            </a:r>
          </a:p>
          <a:p>
            <a:r>
              <a:rPr lang="en-US" dirty="0"/>
              <a:t>More the spread more the variance.</a:t>
            </a:r>
          </a:p>
        </p:txBody>
      </p:sp>
      <p:pic>
        <p:nvPicPr>
          <p:cNvPr id="7" name="Picture 6">
            <a:extLst>
              <a:ext uri="{FF2B5EF4-FFF2-40B4-BE49-F238E27FC236}">
                <a16:creationId xmlns:a16="http://schemas.microsoft.com/office/drawing/2014/main" id="{6BD9223B-6D3E-40D3-E70A-92337B8AD2C3}"/>
              </a:ext>
            </a:extLst>
          </p:cNvPr>
          <p:cNvPicPr>
            <a:picLocks noChangeAspect="1"/>
          </p:cNvPicPr>
          <p:nvPr/>
        </p:nvPicPr>
        <p:blipFill>
          <a:blip r:embed="rId2"/>
          <a:stretch>
            <a:fillRect/>
          </a:stretch>
        </p:blipFill>
        <p:spPr>
          <a:xfrm>
            <a:off x="4554071" y="1380565"/>
            <a:ext cx="7100046" cy="4554070"/>
          </a:xfrm>
          <a:prstGeom prst="rect">
            <a:avLst/>
          </a:prstGeom>
        </p:spPr>
      </p:pic>
    </p:spTree>
    <p:extLst>
      <p:ext uri="{BB962C8B-B14F-4D97-AF65-F5344CB8AC3E}">
        <p14:creationId xmlns:p14="http://schemas.microsoft.com/office/powerpoint/2010/main" val="1724511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D59FF-D4DD-B134-0121-A084A476C9D7}"/>
              </a:ext>
            </a:extLst>
          </p:cNvPr>
          <p:cNvSpPr>
            <a:spLocks noGrp="1"/>
          </p:cNvSpPr>
          <p:nvPr>
            <p:ph type="title"/>
          </p:nvPr>
        </p:nvSpPr>
        <p:spPr>
          <a:xfrm>
            <a:off x="1295402" y="982132"/>
            <a:ext cx="9601196" cy="254997"/>
          </a:xfrm>
        </p:spPr>
        <p:txBody>
          <a:bodyPr>
            <a:normAutofit fontScale="90000"/>
          </a:bodyPr>
          <a:lstStyle/>
          <a:p>
            <a:r>
              <a:rPr lang="en-US" dirty="0"/>
              <a:t>2.Standard deviations </a:t>
            </a:r>
          </a:p>
        </p:txBody>
      </p:sp>
      <p:sp>
        <p:nvSpPr>
          <p:cNvPr id="3" name="Content Placeholder 2">
            <a:extLst>
              <a:ext uri="{FF2B5EF4-FFF2-40B4-BE49-F238E27FC236}">
                <a16:creationId xmlns:a16="http://schemas.microsoft.com/office/drawing/2014/main" id="{45806416-AEE8-ABC9-F724-8004A34A9A3B}"/>
              </a:ext>
            </a:extLst>
          </p:cNvPr>
          <p:cNvSpPr>
            <a:spLocks noGrp="1"/>
          </p:cNvSpPr>
          <p:nvPr>
            <p:ph idx="1"/>
          </p:nvPr>
        </p:nvSpPr>
        <p:spPr>
          <a:xfrm>
            <a:off x="1295400" y="1524000"/>
            <a:ext cx="4800599" cy="4697506"/>
          </a:xfrm>
        </p:spPr>
        <p:txBody>
          <a:bodyPr/>
          <a:lstStyle/>
          <a:p>
            <a:r>
              <a:rPr lang="en-US" dirty="0"/>
              <a:t>The square root of the variance is known as the standards deviation..</a:t>
            </a:r>
          </a:p>
          <a:p>
            <a:pPr marL="0" indent="0">
              <a:buNone/>
            </a:pPr>
            <a:r>
              <a:rPr lang="en-US" dirty="0"/>
              <a:t>A standard deviations is used to determine how estimated for a group of observation are spread out of the mean </a:t>
            </a:r>
          </a:p>
          <a:p>
            <a:pPr marL="0" indent="0">
              <a:buNone/>
            </a:pPr>
            <a:r>
              <a:rPr lang="en-US" dirty="0"/>
              <a:t>How many STDX is away from mean</a:t>
            </a:r>
          </a:p>
        </p:txBody>
      </p:sp>
      <p:pic>
        <p:nvPicPr>
          <p:cNvPr id="4" name="Picture 3">
            <a:extLst>
              <a:ext uri="{FF2B5EF4-FFF2-40B4-BE49-F238E27FC236}">
                <a16:creationId xmlns:a16="http://schemas.microsoft.com/office/drawing/2014/main" id="{69B6E5B3-B335-A0DC-B2CE-43CC1C4BF597}"/>
              </a:ext>
            </a:extLst>
          </p:cNvPr>
          <p:cNvPicPr>
            <a:picLocks noChangeAspect="1"/>
          </p:cNvPicPr>
          <p:nvPr/>
        </p:nvPicPr>
        <p:blipFill>
          <a:blip r:embed="rId2"/>
          <a:stretch>
            <a:fillRect/>
          </a:stretch>
        </p:blipFill>
        <p:spPr>
          <a:xfrm>
            <a:off x="5853952" y="1524000"/>
            <a:ext cx="5042646" cy="2951070"/>
          </a:xfrm>
          <a:prstGeom prst="rect">
            <a:avLst/>
          </a:prstGeom>
        </p:spPr>
      </p:pic>
    </p:spTree>
    <p:extLst>
      <p:ext uri="{BB962C8B-B14F-4D97-AF65-F5344CB8AC3E}">
        <p14:creationId xmlns:p14="http://schemas.microsoft.com/office/powerpoint/2010/main" val="2057130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C7C0F-92CD-321D-3857-15E23EE1BE47}"/>
              </a:ext>
            </a:extLst>
          </p:cNvPr>
          <p:cNvSpPr>
            <a:spLocks noGrp="1"/>
          </p:cNvSpPr>
          <p:nvPr>
            <p:ph type="title"/>
          </p:nvPr>
        </p:nvSpPr>
        <p:spPr/>
        <p:txBody>
          <a:bodyPr>
            <a:normAutofit fontScale="90000"/>
          </a:bodyPr>
          <a:lstStyle/>
          <a:p>
            <a:r>
              <a:rPr lang="en-US" dirty="0"/>
              <a:t>Coefficient of variation (cv)</a:t>
            </a:r>
            <a:br>
              <a:rPr lang="en-US" dirty="0"/>
            </a:br>
            <a:endParaRPr lang="en-US" dirty="0"/>
          </a:p>
        </p:txBody>
      </p:sp>
      <p:sp>
        <p:nvSpPr>
          <p:cNvPr id="3" name="Content Placeholder 2">
            <a:extLst>
              <a:ext uri="{FF2B5EF4-FFF2-40B4-BE49-F238E27FC236}">
                <a16:creationId xmlns:a16="http://schemas.microsoft.com/office/drawing/2014/main" id="{D7353D0B-6FB0-4C92-7D1A-76A2174EFE5C}"/>
              </a:ext>
            </a:extLst>
          </p:cNvPr>
          <p:cNvSpPr>
            <a:spLocks noGrp="1"/>
          </p:cNvSpPr>
          <p:nvPr>
            <p:ph idx="1"/>
          </p:nvPr>
        </p:nvSpPr>
        <p:spPr>
          <a:xfrm>
            <a:off x="1295401" y="2556932"/>
            <a:ext cx="2469775" cy="3318936"/>
          </a:xfrm>
        </p:spPr>
        <p:txBody>
          <a:bodyPr/>
          <a:lstStyle/>
          <a:p>
            <a:r>
              <a:rPr lang="en-US" dirty="0"/>
              <a:t>The cv is the ratio of standard deviations to the mean express in percentage.</a:t>
            </a:r>
          </a:p>
          <a:p>
            <a:pPr marL="0" indent="0">
              <a:buNone/>
            </a:pPr>
            <a:r>
              <a:rPr lang="en-US" dirty="0"/>
              <a:t>Range=- ♾️to♾️</a:t>
            </a:r>
          </a:p>
        </p:txBody>
      </p:sp>
      <p:pic>
        <p:nvPicPr>
          <p:cNvPr id="4" name="Picture 3">
            <a:extLst>
              <a:ext uri="{FF2B5EF4-FFF2-40B4-BE49-F238E27FC236}">
                <a16:creationId xmlns:a16="http://schemas.microsoft.com/office/drawing/2014/main" id="{3CBE934A-E513-1238-4BB7-863C0DFA7A87}"/>
              </a:ext>
            </a:extLst>
          </p:cNvPr>
          <p:cNvPicPr>
            <a:picLocks noChangeAspect="1"/>
          </p:cNvPicPr>
          <p:nvPr/>
        </p:nvPicPr>
        <p:blipFill>
          <a:blip r:embed="rId2"/>
          <a:stretch>
            <a:fillRect/>
          </a:stretch>
        </p:blipFill>
        <p:spPr>
          <a:xfrm>
            <a:off x="4912658" y="2133600"/>
            <a:ext cx="6311153" cy="4034118"/>
          </a:xfrm>
          <a:prstGeom prst="rect">
            <a:avLst/>
          </a:prstGeom>
        </p:spPr>
      </p:pic>
    </p:spTree>
    <p:extLst>
      <p:ext uri="{BB962C8B-B14F-4D97-AF65-F5344CB8AC3E}">
        <p14:creationId xmlns:p14="http://schemas.microsoft.com/office/powerpoint/2010/main" val="1063852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6BE7B-A438-333C-1D65-2F0D70B37EB7}"/>
              </a:ext>
            </a:extLst>
          </p:cNvPr>
          <p:cNvSpPr>
            <a:spLocks noGrp="1"/>
          </p:cNvSpPr>
          <p:nvPr>
            <p:ph type="title"/>
          </p:nvPr>
        </p:nvSpPr>
        <p:spPr/>
        <p:txBody>
          <a:bodyPr/>
          <a:lstStyle/>
          <a:p>
            <a:r>
              <a:rPr lang="en-US" dirty="0"/>
              <a:t>Pearson correlation </a:t>
            </a:r>
          </a:p>
        </p:txBody>
      </p:sp>
      <p:sp>
        <p:nvSpPr>
          <p:cNvPr id="3" name="Content Placeholder 2">
            <a:extLst>
              <a:ext uri="{FF2B5EF4-FFF2-40B4-BE49-F238E27FC236}">
                <a16:creationId xmlns:a16="http://schemas.microsoft.com/office/drawing/2014/main" id="{97A31AE8-E82C-001E-E5CB-ABA6ACE64BB8}"/>
              </a:ext>
            </a:extLst>
          </p:cNvPr>
          <p:cNvSpPr>
            <a:spLocks noGrp="1"/>
          </p:cNvSpPr>
          <p:nvPr>
            <p:ph idx="1"/>
          </p:nvPr>
        </p:nvSpPr>
        <p:spPr>
          <a:xfrm>
            <a:off x="1093695" y="2015065"/>
            <a:ext cx="5051615" cy="3589869"/>
          </a:xfrm>
        </p:spPr>
        <p:txBody>
          <a:bodyPr/>
          <a:lstStyle/>
          <a:p>
            <a:r>
              <a:rPr lang="en-US" dirty="0"/>
              <a:t>The Pearson  correction ® is the most common of measuring a linear correlation. It is a number between -1to 1 that measures the strength and direction of the relationship between two variables.</a:t>
            </a:r>
          </a:p>
        </p:txBody>
      </p:sp>
      <p:pic>
        <p:nvPicPr>
          <p:cNvPr id="4" name="Picture 3">
            <a:extLst>
              <a:ext uri="{FF2B5EF4-FFF2-40B4-BE49-F238E27FC236}">
                <a16:creationId xmlns:a16="http://schemas.microsoft.com/office/drawing/2014/main" id="{46D63B17-E9C4-9976-1EB8-D1EE0A57C680}"/>
              </a:ext>
            </a:extLst>
          </p:cNvPr>
          <p:cNvPicPr>
            <a:picLocks noChangeAspect="1"/>
          </p:cNvPicPr>
          <p:nvPr/>
        </p:nvPicPr>
        <p:blipFill>
          <a:blip r:embed="rId2"/>
          <a:stretch>
            <a:fillRect/>
          </a:stretch>
        </p:blipFill>
        <p:spPr>
          <a:xfrm>
            <a:off x="6145311" y="2286000"/>
            <a:ext cx="5051615" cy="3792072"/>
          </a:xfrm>
          <a:prstGeom prst="rect">
            <a:avLst/>
          </a:prstGeom>
        </p:spPr>
      </p:pic>
    </p:spTree>
    <p:extLst>
      <p:ext uri="{BB962C8B-B14F-4D97-AF65-F5344CB8AC3E}">
        <p14:creationId xmlns:p14="http://schemas.microsoft.com/office/powerpoint/2010/main" val="389456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F81F-6E37-A31B-C01F-35C49A0DED13}"/>
              </a:ext>
            </a:extLst>
          </p:cNvPr>
          <p:cNvSpPr>
            <a:spLocks noGrp="1"/>
          </p:cNvSpPr>
          <p:nvPr>
            <p:ph type="title"/>
          </p:nvPr>
        </p:nvSpPr>
        <p:spPr/>
        <p:txBody>
          <a:bodyPr/>
          <a:lstStyle/>
          <a:p>
            <a:r>
              <a:rPr lang="en-US" dirty="0"/>
              <a:t>Spearman correction </a:t>
            </a:r>
          </a:p>
        </p:txBody>
      </p:sp>
      <p:sp>
        <p:nvSpPr>
          <p:cNvPr id="3" name="Content Placeholder 2">
            <a:extLst>
              <a:ext uri="{FF2B5EF4-FFF2-40B4-BE49-F238E27FC236}">
                <a16:creationId xmlns:a16="http://schemas.microsoft.com/office/drawing/2014/main" id="{54F521E3-D49D-289A-246C-140112B298E8}"/>
              </a:ext>
            </a:extLst>
          </p:cNvPr>
          <p:cNvSpPr>
            <a:spLocks noGrp="1"/>
          </p:cNvSpPr>
          <p:nvPr>
            <p:ph idx="1"/>
          </p:nvPr>
        </p:nvSpPr>
        <p:spPr/>
        <p:txBody>
          <a:bodyPr/>
          <a:lstStyle/>
          <a:p>
            <a:r>
              <a:rPr lang="en-US" dirty="0"/>
              <a:t>A correlation can easily be drawn as a scatter graph,but the most precise way to compare several pairs of data is to use to a statistical test this established whether the correlation is really significant or if it could have been the results of chance alone.</a:t>
            </a:r>
          </a:p>
        </p:txBody>
      </p:sp>
      <p:pic>
        <p:nvPicPr>
          <p:cNvPr id="4" name="Picture 3">
            <a:extLst>
              <a:ext uri="{FF2B5EF4-FFF2-40B4-BE49-F238E27FC236}">
                <a16:creationId xmlns:a16="http://schemas.microsoft.com/office/drawing/2014/main" id="{5297115F-C358-C33A-B9E2-684C90024804}"/>
              </a:ext>
            </a:extLst>
          </p:cNvPr>
          <p:cNvPicPr>
            <a:picLocks noChangeAspect="1"/>
          </p:cNvPicPr>
          <p:nvPr/>
        </p:nvPicPr>
        <p:blipFill>
          <a:blip r:embed="rId2"/>
          <a:stretch>
            <a:fillRect/>
          </a:stretch>
        </p:blipFill>
        <p:spPr>
          <a:xfrm>
            <a:off x="3639671" y="3747248"/>
            <a:ext cx="6992469" cy="2259105"/>
          </a:xfrm>
          <a:prstGeom prst="rect">
            <a:avLst/>
          </a:prstGeom>
        </p:spPr>
      </p:pic>
    </p:spTree>
    <p:extLst>
      <p:ext uri="{BB962C8B-B14F-4D97-AF65-F5344CB8AC3E}">
        <p14:creationId xmlns:p14="http://schemas.microsoft.com/office/powerpoint/2010/main" val="3913761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3E311-5C9E-3154-7C5C-123A0653B448}"/>
              </a:ext>
            </a:extLst>
          </p:cNvPr>
          <p:cNvSpPr>
            <a:spLocks noGrp="1"/>
          </p:cNvSpPr>
          <p:nvPr>
            <p:ph type="title"/>
          </p:nvPr>
        </p:nvSpPr>
        <p:spPr>
          <a:xfrm>
            <a:off x="1295402" y="0"/>
            <a:ext cx="9601196" cy="1721225"/>
          </a:xfrm>
        </p:spPr>
        <p:txBody>
          <a:bodyPr/>
          <a:lstStyle/>
          <a:p>
            <a:r>
              <a:rPr lang="en-US" dirty="0"/>
              <a:t>Type of questions </a:t>
            </a:r>
          </a:p>
        </p:txBody>
      </p:sp>
      <p:sp>
        <p:nvSpPr>
          <p:cNvPr id="3" name="Content Placeholder 2">
            <a:extLst>
              <a:ext uri="{FF2B5EF4-FFF2-40B4-BE49-F238E27FC236}">
                <a16:creationId xmlns:a16="http://schemas.microsoft.com/office/drawing/2014/main" id="{26E317B5-D79D-445B-7F2F-40B3CB8F5260}"/>
              </a:ext>
            </a:extLst>
          </p:cNvPr>
          <p:cNvSpPr>
            <a:spLocks noGrp="1"/>
          </p:cNvSpPr>
          <p:nvPr>
            <p:ph idx="1"/>
          </p:nvPr>
        </p:nvSpPr>
        <p:spPr>
          <a:xfrm>
            <a:off x="1295401" y="1057835"/>
            <a:ext cx="7884458" cy="5800166"/>
          </a:xfrm>
        </p:spPr>
        <p:txBody>
          <a:bodyPr>
            <a:normAutofit/>
          </a:bodyPr>
          <a:lstStyle/>
          <a:p>
            <a:pPr marL="457200" indent="-457200">
              <a:buFont typeface="+mj-lt"/>
              <a:buAutoNum type="arabicPeriod"/>
            </a:pPr>
            <a:r>
              <a:rPr lang="en-US" dirty="0"/>
              <a:t>What is the difference between population and sample?</a:t>
            </a:r>
          </a:p>
          <a:p>
            <a:pPr marL="457200" indent="-457200">
              <a:buFont typeface="+mj-lt"/>
              <a:buAutoNum type="arabicPeriod"/>
            </a:pPr>
            <a:r>
              <a:rPr lang="en-US" dirty="0"/>
              <a:t>Why we used the sample data in inferential statistics?</a:t>
            </a:r>
          </a:p>
          <a:p>
            <a:pPr marL="457200" indent="-457200">
              <a:buFont typeface="+mj-lt"/>
              <a:buAutoNum type="arabicPeriod"/>
            </a:pPr>
            <a:r>
              <a:rPr lang="en-US" dirty="0"/>
              <a:t>What is the quantitative data and qualitative data?</a:t>
            </a:r>
          </a:p>
          <a:p>
            <a:pPr marL="457200" indent="-457200">
              <a:buFont typeface="+mj-lt"/>
              <a:buAutoNum type="arabicPeriod"/>
            </a:pPr>
            <a:r>
              <a:rPr lang="en-US" dirty="0"/>
              <a:t>What is mean?</a:t>
            </a:r>
          </a:p>
          <a:p>
            <a:pPr marL="457200" indent="-457200">
              <a:buFont typeface="+mj-lt"/>
              <a:buAutoNum type="arabicPeriod"/>
            </a:pPr>
            <a:r>
              <a:rPr lang="en-US" dirty="0"/>
              <a:t>What is mean by standards deviation?</a:t>
            </a:r>
          </a:p>
          <a:p>
            <a:pPr marL="457200" indent="-457200">
              <a:buFont typeface="+mj-lt"/>
              <a:buAutoNum type="arabicPeriod"/>
            </a:pPr>
            <a:r>
              <a:rPr lang="en-US" dirty="0"/>
              <a:t>What does mean by symmetric mean?</a:t>
            </a:r>
          </a:p>
          <a:p>
            <a:pPr marL="457200" indent="-457200">
              <a:buFont typeface="+mj-lt"/>
              <a:buAutoNum type="arabicPeriod"/>
            </a:pPr>
            <a:r>
              <a:rPr lang="en-US" dirty="0"/>
              <a:t>What is relationship between median,mean and mode in normal distribution?</a:t>
            </a:r>
          </a:p>
          <a:p>
            <a:pPr marL="457200" indent="-457200">
              <a:buFont typeface="+mj-lt"/>
              <a:buAutoNum type="arabicPeriod"/>
            </a:pPr>
            <a:r>
              <a:rPr lang="en-US" dirty="0"/>
              <a:t>What is mean by correction?</a:t>
            </a:r>
          </a:p>
        </p:txBody>
      </p:sp>
    </p:spTree>
    <p:extLst>
      <p:ext uri="{BB962C8B-B14F-4D97-AF65-F5344CB8AC3E}">
        <p14:creationId xmlns:p14="http://schemas.microsoft.com/office/powerpoint/2010/main" val="1617204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36D51-BC6D-C29D-6797-870BCA2F1CC5}"/>
              </a:ext>
            </a:extLst>
          </p:cNvPr>
          <p:cNvSpPr>
            <a:spLocks noGrp="1"/>
          </p:cNvSpPr>
          <p:nvPr>
            <p:ph type="title"/>
          </p:nvPr>
        </p:nvSpPr>
        <p:spPr>
          <a:xfrm>
            <a:off x="1295402" y="982132"/>
            <a:ext cx="9601196" cy="506009"/>
          </a:xfrm>
        </p:spPr>
        <p:txBody>
          <a:bodyPr>
            <a:normAutofit fontScale="90000"/>
          </a:bodyPr>
          <a:lstStyle/>
          <a:p>
            <a:r>
              <a:rPr lang="en-US" dirty="0"/>
              <a:t>Graph of Analysis </a:t>
            </a:r>
          </a:p>
        </p:txBody>
      </p:sp>
      <p:sp>
        <p:nvSpPr>
          <p:cNvPr id="3" name="Content Placeholder 2">
            <a:extLst>
              <a:ext uri="{FF2B5EF4-FFF2-40B4-BE49-F238E27FC236}">
                <a16:creationId xmlns:a16="http://schemas.microsoft.com/office/drawing/2014/main" id="{45AF6D10-CC78-DDD6-B8CB-8B3E02D5662B}"/>
              </a:ext>
            </a:extLst>
          </p:cNvPr>
          <p:cNvSpPr>
            <a:spLocks noGrp="1"/>
          </p:cNvSpPr>
          <p:nvPr>
            <p:ph idx="1"/>
          </p:nvPr>
        </p:nvSpPr>
        <p:spPr>
          <a:xfrm>
            <a:off x="1295401" y="2456329"/>
            <a:ext cx="9601196" cy="3419539"/>
          </a:xfrm>
        </p:spPr>
        <p:txBody>
          <a:bodyPr/>
          <a:lstStyle/>
          <a:p>
            <a:pPr marL="457200" indent="-457200">
              <a:buFont typeface="+mj-lt"/>
              <a:buAutoNum type="arabicPeriod"/>
            </a:pPr>
            <a:r>
              <a:rPr lang="en-US" dirty="0"/>
              <a:t>Univariate analysis </a:t>
            </a:r>
          </a:p>
          <a:p>
            <a:pPr marL="457200" indent="-457200">
              <a:buFont typeface="+mj-lt"/>
              <a:buAutoNum type="arabicPeriod"/>
            </a:pPr>
            <a:r>
              <a:rPr lang="en-US" dirty="0"/>
              <a:t>Bivariate analysis </a:t>
            </a:r>
          </a:p>
          <a:p>
            <a:pPr marL="457200" indent="-457200">
              <a:buFont typeface="+mj-lt"/>
              <a:buAutoNum type="arabicPeriod"/>
            </a:pPr>
            <a:r>
              <a:rPr lang="en-US" dirty="0"/>
              <a:t>Multivariate analysis </a:t>
            </a:r>
          </a:p>
        </p:txBody>
      </p:sp>
    </p:spTree>
    <p:extLst>
      <p:ext uri="{BB962C8B-B14F-4D97-AF65-F5344CB8AC3E}">
        <p14:creationId xmlns:p14="http://schemas.microsoft.com/office/powerpoint/2010/main" val="1826754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64EF8-BF42-F06A-6EDF-24BBE121C2C8}"/>
              </a:ext>
            </a:extLst>
          </p:cNvPr>
          <p:cNvSpPr>
            <a:spLocks noGrp="1"/>
          </p:cNvSpPr>
          <p:nvPr>
            <p:ph type="title"/>
          </p:nvPr>
        </p:nvSpPr>
        <p:spPr>
          <a:xfrm>
            <a:off x="1295402" y="982133"/>
            <a:ext cx="9601196" cy="739092"/>
          </a:xfrm>
        </p:spPr>
        <p:txBody>
          <a:bodyPr>
            <a:normAutofit fontScale="90000"/>
          </a:bodyPr>
          <a:lstStyle/>
          <a:p>
            <a:r>
              <a:rPr lang="en-US" dirty="0"/>
              <a:t>1.Univarient analysis </a:t>
            </a:r>
          </a:p>
        </p:txBody>
      </p:sp>
      <p:sp>
        <p:nvSpPr>
          <p:cNvPr id="3" name="Content Placeholder 2">
            <a:extLst>
              <a:ext uri="{FF2B5EF4-FFF2-40B4-BE49-F238E27FC236}">
                <a16:creationId xmlns:a16="http://schemas.microsoft.com/office/drawing/2014/main" id="{1E27012C-3EC2-4F58-1B1C-D4AD93B526D8}"/>
              </a:ext>
            </a:extLst>
          </p:cNvPr>
          <p:cNvSpPr>
            <a:spLocks noGrp="1"/>
          </p:cNvSpPr>
          <p:nvPr>
            <p:ph idx="1"/>
          </p:nvPr>
        </p:nvSpPr>
        <p:spPr>
          <a:xfrm>
            <a:off x="1295401" y="1721225"/>
            <a:ext cx="4370293" cy="4154643"/>
          </a:xfrm>
        </p:spPr>
        <p:txBody>
          <a:bodyPr/>
          <a:lstStyle/>
          <a:p>
            <a:pPr marL="457200" indent="-457200">
              <a:buAutoNum type="arabicPeriod"/>
            </a:pPr>
            <a:r>
              <a:rPr lang="en-US" dirty="0"/>
              <a:t>Relative frequency </a:t>
            </a:r>
          </a:p>
          <a:p>
            <a:pPr marL="0" indent="0">
              <a:buNone/>
            </a:pPr>
            <a:endParaRPr lang="en-US" dirty="0"/>
          </a:p>
          <a:p>
            <a:pPr marL="0" indent="0">
              <a:buNone/>
            </a:pPr>
            <a:r>
              <a:rPr lang="en-US" dirty="0"/>
              <a:t>The number of times the event occurred divided by the total number of events.</a:t>
            </a:r>
          </a:p>
        </p:txBody>
      </p:sp>
      <p:pic>
        <p:nvPicPr>
          <p:cNvPr id="5" name="Picture 4">
            <a:extLst>
              <a:ext uri="{FF2B5EF4-FFF2-40B4-BE49-F238E27FC236}">
                <a16:creationId xmlns:a16="http://schemas.microsoft.com/office/drawing/2014/main" id="{405874DD-1806-9A4C-5438-D82B85EA882C}"/>
              </a:ext>
            </a:extLst>
          </p:cNvPr>
          <p:cNvPicPr>
            <a:picLocks noChangeAspect="1"/>
          </p:cNvPicPr>
          <p:nvPr/>
        </p:nvPicPr>
        <p:blipFill>
          <a:blip r:embed="rId2"/>
          <a:stretch>
            <a:fillRect/>
          </a:stretch>
        </p:blipFill>
        <p:spPr>
          <a:xfrm>
            <a:off x="5952565" y="1983692"/>
            <a:ext cx="4589929" cy="4154642"/>
          </a:xfrm>
          <a:prstGeom prst="rect">
            <a:avLst/>
          </a:prstGeom>
        </p:spPr>
      </p:pic>
    </p:spTree>
    <p:extLst>
      <p:ext uri="{BB962C8B-B14F-4D97-AF65-F5344CB8AC3E}">
        <p14:creationId xmlns:p14="http://schemas.microsoft.com/office/powerpoint/2010/main" val="194572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777B7-9CFF-F14C-502D-545EB0AF6661}"/>
              </a:ext>
            </a:extLst>
          </p:cNvPr>
          <p:cNvSpPr>
            <a:spLocks noGrp="1"/>
          </p:cNvSpPr>
          <p:nvPr>
            <p:ph type="title"/>
          </p:nvPr>
        </p:nvSpPr>
        <p:spPr/>
        <p:txBody>
          <a:bodyPr/>
          <a:lstStyle/>
          <a:p>
            <a:r>
              <a:rPr lang="en-US" dirty="0"/>
              <a:t>2.Cummularive frequency </a:t>
            </a:r>
          </a:p>
        </p:txBody>
      </p:sp>
      <p:sp>
        <p:nvSpPr>
          <p:cNvPr id="3" name="Content Placeholder 2">
            <a:extLst>
              <a:ext uri="{FF2B5EF4-FFF2-40B4-BE49-F238E27FC236}">
                <a16:creationId xmlns:a16="http://schemas.microsoft.com/office/drawing/2014/main" id="{19E375DA-866B-E884-CD4C-3E844B68D88F}"/>
              </a:ext>
            </a:extLst>
          </p:cNvPr>
          <p:cNvSpPr>
            <a:spLocks noGrp="1"/>
          </p:cNvSpPr>
          <p:nvPr>
            <p:ph idx="1"/>
          </p:nvPr>
        </p:nvSpPr>
        <p:spPr>
          <a:xfrm>
            <a:off x="1295401" y="2556932"/>
            <a:ext cx="4155140" cy="3318936"/>
          </a:xfrm>
        </p:spPr>
        <p:txBody>
          <a:bodyPr/>
          <a:lstStyle/>
          <a:p>
            <a:r>
              <a:rPr lang="en-US" dirty="0"/>
              <a:t>Cumulative frequency is the total of the frequency and all frequency in a frequency in a frequency until a certain defined class interval </a:t>
            </a:r>
          </a:p>
        </p:txBody>
      </p:sp>
      <p:pic>
        <p:nvPicPr>
          <p:cNvPr id="4" name="Picture 3">
            <a:extLst>
              <a:ext uri="{FF2B5EF4-FFF2-40B4-BE49-F238E27FC236}">
                <a16:creationId xmlns:a16="http://schemas.microsoft.com/office/drawing/2014/main" id="{364C2984-668F-B205-4EB8-F7CC31CBF036}"/>
              </a:ext>
            </a:extLst>
          </p:cNvPr>
          <p:cNvPicPr>
            <a:picLocks noChangeAspect="1"/>
          </p:cNvPicPr>
          <p:nvPr/>
        </p:nvPicPr>
        <p:blipFill>
          <a:blip r:embed="rId2"/>
          <a:stretch>
            <a:fillRect/>
          </a:stretch>
        </p:blipFill>
        <p:spPr>
          <a:xfrm>
            <a:off x="5450541" y="2286000"/>
            <a:ext cx="5446056" cy="3476624"/>
          </a:xfrm>
          <a:prstGeom prst="rect">
            <a:avLst/>
          </a:prstGeom>
        </p:spPr>
      </p:pic>
    </p:spTree>
    <p:extLst>
      <p:ext uri="{BB962C8B-B14F-4D97-AF65-F5344CB8AC3E}">
        <p14:creationId xmlns:p14="http://schemas.microsoft.com/office/powerpoint/2010/main" val="415406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ED90F-347A-D299-EFF0-DB81E0A2BA31}"/>
              </a:ext>
            </a:extLst>
          </p:cNvPr>
          <p:cNvSpPr>
            <a:spLocks noGrp="1"/>
          </p:cNvSpPr>
          <p:nvPr>
            <p:ph type="title"/>
          </p:nvPr>
        </p:nvSpPr>
        <p:spPr/>
        <p:txBody>
          <a:bodyPr>
            <a:normAutofit fontScale="90000"/>
          </a:bodyPr>
          <a:lstStyle/>
          <a:p>
            <a:r>
              <a:rPr lang="en-US" dirty="0"/>
              <a:t>3.Numerical features </a:t>
            </a:r>
            <a:br>
              <a:rPr lang="en-US" dirty="0"/>
            </a:br>
            <a:endParaRPr lang="en-US" dirty="0"/>
          </a:p>
        </p:txBody>
      </p:sp>
      <p:pic>
        <p:nvPicPr>
          <p:cNvPr id="6" name="Content Placeholder 5">
            <a:extLst>
              <a:ext uri="{FF2B5EF4-FFF2-40B4-BE49-F238E27FC236}">
                <a16:creationId xmlns:a16="http://schemas.microsoft.com/office/drawing/2014/main" id="{3B67F366-0B4D-578F-B476-4C0B1BFDD255}"/>
              </a:ext>
            </a:extLst>
          </p:cNvPr>
          <p:cNvPicPr>
            <a:picLocks noGrp="1" noChangeAspect="1"/>
          </p:cNvPicPr>
          <p:nvPr>
            <p:ph idx="1"/>
          </p:nvPr>
        </p:nvPicPr>
        <p:blipFill>
          <a:blip r:embed="rId2"/>
          <a:stretch>
            <a:fillRect/>
          </a:stretch>
        </p:blipFill>
        <p:spPr>
          <a:xfrm>
            <a:off x="2814918" y="1954307"/>
            <a:ext cx="7153835" cy="3921032"/>
          </a:xfrm>
          <a:prstGeom prst="rect">
            <a:avLst/>
          </a:prstGeom>
        </p:spPr>
      </p:pic>
    </p:spTree>
    <p:extLst>
      <p:ext uri="{BB962C8B-B14F-4D97-AF65-F5344CB8AC3E}">
        <p14:creationId xmlns:p14="http://schemas.microsoft.com/office/powerpoint/2010/main" val="341839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84F7E-1A58-913E-F6FD-26DA87677FDF}"/>
              </a:ext>
            </a:extLst>
          </p:cNvPr>
          <p:cNvSpPr>
            <a:spLocks noGrp="1"/>
          </p:cNvSpPr>
          <p:nvPr>
            <p:ph type="title"/>
          </p:nvPr>
        </p:nvSpPr>
        <p:spPr/>
        <p:txBody>
          <a:bodyPr/>
          <a:lstStyle/>
          <a:p>
            <a:r>
              <a:rPr lang="en-US" dirty="0"/>
              <a:t>4.Distribution of Numerical features </a:t>
            </a:r>
          </a:p>
        </p:txBody>
      </p:sp>
      <p:pic>
        <p:nvPicPr>
          <p:cNvPr id="4" name="Content Placeholder 3">
            <a:extLst>
              <a:ext uri="{FF2B5EF4-FFF2-40B4-BE49-F238E27FC236}">
                <a16:creationId xmlns:a16="http://schemas.microsoft.com/office/drawing/2014/main" id="{EFAD5BCA-01C7-57BB-3827-8F0FBB4467E0}"/>
              </a:ext>
            </a:extLst>
          </p:cNvPr>
          <p:cNvPicPr>
            <a:picLocks noGrp="1" noChangeAspect="1"/>
          </p:cNvPicPr>
          <p:nvPr>
            <p:ph idx="1"/>
          </p:nvPr>
        </p:nvPicPr>
        <p:blipFill>
          <a:blip r:embed="rId2"/>
          <a:stretch>
            <a:fillRect/>
          </a:stretch>
        </p:blipFill>
        <p:spPr>
          <a:xfrm>
            <a:off x="2169459" y="2285999"/>
            <a:ext cx="8014447" cy="4025154"/>
          </a:xfrm>
          <a:prstGeom prst="rect">
            <a:avLst/>
          </a:prstGeom>
        </p:spPr>
      </p:pic>
    </p:spTree>
    <p:extLst>
      <p:ext uri="{BB962C8B-B14F-4D97-AF65-F5344CB8AC3E}">
        <p14:creationId xmlns:p14="http://schemas.microsoft.com/office/powerpoint/2010/main" val="780250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E993B-C50E-344A-D683-DCDD6AE677F5}"/>
              </a:ext>
            </a:extLst>
          </p:cNvPr>
          <p:cNvSpPr>
            <a:spLocks noGrp="1"/>
          </p:cNvSpPr>
          <p:nvPr>
            <p:ph type="title"/>
          </p:nvPr>
        </p:nvSpPr>
        <p:spPr/>
        <p:txBody>
          <a:bodyPr/>
          <a:lstStyle/>
          <a:p>
            <a:r>
              <a:rPr lang="en-US" dirty="0"/>
              <a:t>2.Bivarient analysis </a:t>
            </a:r>
          </a:p>
        </p:txBody>
      </p:sp>
      <p:pic>
        <p:nvPicPr>
          <p:cNvPr id="4" name="Content Placeholder 3">
            <a:extLst>
              <a:ext uri="{FF2B5EF4-FFF2-40B4-BE49-F238E27FC236}">
                <a16:creationId xmlns:a16="http://schemas.microsoft.com/office/drawing/2014/main" id="{19FA247B-9E04-BAF1-DE9B-9A271036970A}"/>
              </a:ext>
            </a:extLst>
          </p:cNvPr>
          <p:cNvPicPr>
            <a:picLocks noGrp="1" noChangeAspect="1"/>
          </p:cNvPicPr>
          <p:nvPr>
            <p:ph idx="1"/>
          </p:nvPr>
        </p:nvPicPr>
        <p:blipFill>
          <a:blip r:embed="rId2"/>
          <a:stretch>
            <a:fillRect/>
          </a:stretch>
        </p:blipFill>
        <p:spPr>
          <a:xfrm>
            <a:off x="860613" y="2026024"/>
            <a:ext cx="9789458" cy="4123764"/>
          </a:xfrm>
          <a:prstGeom prst="rect">
            <a:avLst/>
          </a:prstGeom>
        </p:spPr>
      </p:pic>
    </p:spTree>
    <p:extLst>
      <p:ext uri="{BB962C8B-B14F-4D97-AF65-F5344CB8AC3E}">
        <p14:creationId xmlns:p14="http://schemas.microsoft.com/office/powerpoint/2010/main" val="3986797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8497F-1490-A1A3-FAA3-CEFEE988E654}"/>
              </a:ext>
            </a:extLst>
          </p:cNvPr>
          <p:cNvSpPr>
            <a:spLocks noGrp="1"/>
          </p:cNvSpPr>
          <p:nvPr>
            <p:ph type="title"/>
          </p:nvPr>
        </p:nvSpPr>
        <p:spPr/>
        <p:txBody>
          <a:bodyPr/>
          <a:lstStyle/>
          <a:p>
            <a:r>
              <a:rPr lang="en-US" dirty="0"/>
              <a:t>Quantile and percentile </a:t>
            </a:r>
          </a:p>
        </p:txBody>
      </p:sp>
      <p:sp>
        <p:nvSpPr>
          <p:cNvPr id="3" name="Content Placeholder 2">
            <a:extLst>
              <a:ext uri="{FF2B5EF4-FFF2-40B4-BE49-F238E27FC236}">
                <a16:creationId xmlns:a16="http://schemas.microsoft.com/office/drawing/2014/main" id="{AF95E8C2-EE94-A0E4-A12A-DDF49648D315}"/>
              </a:ext>
            </a:extLst>
          </p:cNvPr>
          <p:cNvSpPr>
            <a:spLocks noGrp="1"/>
          </p:cNvSpPr>
          <p:nvPr>
            <p:ph idx="1"/>
          </p:nvPr>
        </p:nvSpPr>
        <p:spPr>
          <a:xfrm>
            <a:off x="1295402" y="2285999"/>
            <a:ext cx="9229162" cy="3343836"/>
          </a:xfrm>
        </p:spPr>
        <p:txBody>
          <a:bodyPr>
            <a:normAutofit lnSpcReduction="10000"/>
          </a:bodyPr>
          <a:lstStyle/>
          <a:p>
            <a:pPr marL="0" indent="0">
              <a:buNone/>
            </a:pPr>
            <a:r>
              <a:rPr lang="en-US" b="1" dirty="0"/>
              <a:t>1.Quantile</a:t>
            </a:r>
            <a:r>
              <a:rPr lang="en-US" dirty="0"/>
              <a:t>: It’s a statistical measure used to divide a set of Numerical data into the equal size group.</a:t>
            </a:r>
          </a:p>
          <a:p>
            <a:r>
              <a:rPr lang="en-US" dirty="0"/>
              <a:t>They can also be used to identify the outlier.</a:t>
            </a:r>
          </a:p>
          <a:p>
            <a:pPr marL="0" indent="0">
              <a:buNone/>
            </a:pPr>
            <a:r>
              <a:rPr lang="en-US" dirty="0"/>
              <a:t>2. </a:t>
            </a:r>
            <a:r>
              <a:rPr lang="en-US" b="1" dirty="0"/>
              <a:t>Quartile</a:t>
            </a:r>
            <a:r>
              <a:rPr lang="en-US" dirty="0"/>
              <a:t>: we divided the data into four equal plot. </a:t>
            </a:r>
          </a:p>
          <a:p>
            <a:pPr marL="0" indent="0">
              <a:buNone/>
            </a:pPr>
            <a:r>
              <a:rPr lang="en-US" dirty="0"/>
              <a:t>3.</a:t>
            </a:r>
            <a:r>
              <a:rPr lang="en-US" b="1" dirty="0"/>
              <a:t>Quintile</a:t>
            </a:r>
            <a:r>
              <a:rPr lang="en-US" dirty="0"/>
              <a:t>: We divided the data set into five equal parts.</a:t>
            </a:r>
          </a:p>
          <a:p>
            <a:pPr marL="0" indent="0">
              <a:buNone/>
            </a:pPr>
            <a:r>
              <a:rPr lang="en-US" dirty="0"/>
              <a:t>4.</a:t>
            </a:r>
            <a:r>
              <a:rPr lang="en-US" b="1" dirty="0"/>
              <a:t>Decile: </a:t>
            </a:r>
            <a:r>
              <a:rPr lang="en-US" dirty="0"/>
              <a:t>we</a:t>
            </a:r>
            <a:r>
              <a:rPr lang="en-US" b="1" dirty="0"/>
              <a:t> </a:t>
            </a:r>
            <a:r>
              <a:rPr lang="en-US" dirty="0"/>
              <a:t>divided</a:t>
            </a:r>
            <a:r>
              <a:rPr lang="en-US" b="1" dirty="0"/>
              <a:t> </a:t>
            </a:r>
            <a:r>
              <a:rPr lang="en-US" dirty="0"/>
              <a:t>the</a:t>
            </a:r>
            <a:r>
              <a:rPr lang="en-US" b="1" dirty="0"/>
              <a:t> </a:t>
            </a:r>
            <a:r>
              <a:rPr lang="en-US" dirty="0"/>
              <a:t>data</a:t>
            </a:r>
            <a:r>
              <a:rPr lang="en-US" b="1" dirty="0"/>
              <a:t> </a:t>
            </a:r>
            <a:r>
              <a:rPr lang="en-US" dirty="0"/>
              <a:t>into</a:t>
            </a:r>
            <a:r>
              <a:rPr lang="en-US" b="1" dirty="0"/>
              <a:t> </a:t>
            </a:r>
            <a:r>
              <a:rPr lang="en-US" dirty="0"/>
              <a:t>ten</a:t>
            </a:r>
            <a:r>
              <a:rPr lang="en-US" b="1" dirty="0"/>
              <a:t> </a:t>
            </a:r>
            <a:r>
              <a:rPr lang="en-US" dirty="0"/>
              <a:t>equal</a:t>
            </a:r>
            <a:r>
              <a:rPr lang="en-US" b="1" dirty="0"/>
              <a:t> </a:t>
            </a:r>
            <a:r>
              <a:rPr lang="en-US" dirty="0"/>
              <a:t>parts</a:t>
            </a:r>
            <a:r>
              <a:rPr lang="en-US" b="1" dirty="0"/>
              <a:t>.</a:t>
            </a:r>
          </a:p>
          <a:p>
            <a:pPr marL="0" indent="0">
              <a:buNone/>
            </a:pPr>
            <a:r>
              <a:rPr lang="en-US" b="1" dirty="0"/>
              <a:t>5.Percentile: </a:t>
            </a:r>
            <a:r>
              <a:rPr lang="en-US" dirty="0"/>
              <a:t>We divided the data into 100 equal parts.</a:t>
            </a:r>
            <a:endParaRPr lang="en-US" b="1" dirty="0"/>
          </a:p>
          <a:p>
            <a:pPr marL="0" indent="0">
              <a:buNone/>
            </a:pPr>
            <a:endParaRPr lang="en-US" dirty="0"/>
          </a:p>
        </p:txBody>
      </p:sp>
    </p:spTree>
    <p:extLst>
      <p:ext uri="{BB962C8B-B14F-4D97-AF65-F5344CB8AC3E}">
        <p14:creationId xmlns:p14="http://schemas.microsoft.com/office/powerpoint/2010/main" val="1268387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5AAAA-F7E9-5410-555C-308E52380A1A}"/>
              </a:ext>
            </a:extLst>
          </p:cNvPr>
          <p:cNvSpPr>
            <a:spLocks noGrp="1"/>
          </p:cNvSpPr>
          <p:nvPr>
            <p:ph type="title"/>
          </p:nvPr>
        </p:nvSpPr>
        <p:spPr/>
        <p:txBody>
          <a:bodyPr/>
          <a:lstStyle/>
          <a:p>
            <a:r>
              <a:rPr lang="en-US" dirty="0"/>
              <a:t>Quantile calculation formulas </a:t>
            </a:r>
          </a:p>
        </p:txBody>
      </p:sp>
      <p:sp>
        <p:nvSpPr>
          <p:cNvPr id="3" name="Content Placeholder 2">
            <a:extLst>
              <a:ext uri="{FF2B5EF4-FFF2-40B4-BE49-F238E27FC236}">
                <a16:creationId xmlns:a16="http://schemas.microsoft.com/office/drawing/2014/main" id="{8923939E-6DC8-E663-588F-AD57247942A9}"/>
              </a:ext>
            </a:extLst>
          </p:cNvPr>
          <p:cNvSpPr>
            <a:spLocks noGrp="1"/>
          </p:cNvSpPr>
          <p:nvPr>
            <p:ph idx="1"/>
          </p:nvPr>
        </p:nvSpPr>
        <p:spPr/>
        <p:txBody>
          <a:bodyPr/>
          <a:lstStyle/>
          <a:p>
            <a:r>
              <a:rPr lang="en-US" dirty="0"/>
              <a:t>Quartile then the results is the location not a Data point </a:t>
            </a:r>
          </a:p>
          <a:p>
            <a:pPr marL="0" indent="0">
              <a:buNone/>
            </a:pPr>
            <a:r>
              <a:rPr lang="en-US" dirty="0"/>
              <a:t>PL=P/100(N+1)</a:t>
            </a:r>
          </a:p>
          <a:p>
            <a:pPr marL="0" indent="0">
              <a:buNone/>
            </a:pPr>
            <a:r>
              <a:rPr lang="en-US" dirty="0"/>
              <a:t>N=number of population data.</a:t>
            </a:r>
          </a:p>
          <a:p>
            <a:pPr marL="0" indent="0">
              <a:buNone/>
            </a:pPr>
            <a:r>
              <a:rPr lang="en-US" dirty="0"/>
              <a:t>P=percentile Rank</a:t>
            </a:r>
          </a:p>
          <a:p>
            <a:pPr marL="0" indent="0">
              <a:buNone/>
            </a:pPr>
            <a:r>
              <a:rPr lang="en-US" dirty="0"/>
              <a:t>PL=Data location </a:t>
            </a:r>
          </a:p>
          <a:p>
            <a:pPr marL="0" indent="0">
              <a:buNone/>
            </a:pPr>
            <a:endParaRPr lang="en-US" dirty="0"/>
          </a:p>
        </p:txBody>
      </p:sp>
    </p:spTree>
    <p:extLst>
      <p:ext uri="{BB962C8B-B14F-4D97-AF65-F5344CB8AC3E}">
        <p14:creationId xmlns:p14="http://schemas.microsoft.com/office/powerpoint/2010/main" val="1940305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9CCA-F42D-42A4-4CC4-684E9EE7A83E}"/>
              </a:ext>
            </a:extLst>
          </p:cNvPr>
          <p:cNvSpPr>
            <a:spLocks noGrp="1"/>
          </p:cNvSpPr>
          <p:nvPr>
            <p:ph type="title"/>
          </p:nvPr>
        </p:nvSpPr>
        <p:spPr/>
        <p:txBody>
          <a:bodyPr/>
          <a:lstStyle/>
          <a:p>
            <a:r>
              <a:rPr lang="en-US" dirty="0"/>
              <a:t>To detect the outlier in the dataset</a:t>
            </a:r>
          </a:p>
        </p:txBody>
      </p:sp>
      <p:sp>
        <p:nvSpPr>
          <p:cNvPr id="3" name="Content Placeholder 2">
            <a:extLst>
              <a:ext uri="{FF2B5EF4-FFF2-40B4-BE49-F238E27FC236}">
                <a16:creationId xmlns:a16="http://schemas.microsoft.com/office/drawing/2014/main" id="{E9C3E460-1840-F2E2-DBF3-2D2F6886E16A}"/>
              </a:ext>
            </a:extLst>
          </p:cNvPr>
          <p:cNvSpPr>
            <a:spLocks noGrp="1"/>
          </p:cNvSpPr>
          <p:nvPr>
            <p:ph idx="1"/>
          </p:nvPr>
        </p:nvSpPr>
        <p:spPr>
          <a:xfrm>
            <a:off x="591671" y="1954307"/>
            <a:ext cx="10304927" cy="4554070"/>
          </a:xfrm>
        </p:spPr>
        <p:txBody>
          <a:bodyPr>
            <a:normAutofit/>
          </a:bodyPr>
          <a:lstStyle/>
          <a:p>
            <a:r>
              <a:rPr lang="en-US" b="1" dirty="0"/>
              <a:t>Five</a:t>
            </a:r>
            <a:r>
              <a:rPr lang="en-US" dirty="0"/>
              <a:t> </a:t>
            </a:r>
            <a:r>
              <a:rPr lang="en-US" b="1" dirty="0"/>
              <a:t>number</a:t>
            </a:r>
            <a:r>
              <a:rPr lang="en-US" dirty="0"/>
              <a:t> </a:t>
            </a:r>
            <a:r>
              <a:rPr lang="en-US" b="1" dirty="0"/>
              <a:t>summary</a:t>
            </a:r>
            <a:r>
              <a:rPr lang="en-US" dirty="0"/>
              <a:t> </a:t>
            </a:r>
          </a:p>
          <a:p>
            <a:r>
              <a:rPr lang="en-US" dirty="0"/>
              <a:t>We ca calculate five number summary in the dataset by dividing the data into four equal parts.</a:t>
            </a:r>
          </a:p>
          <a:p>
            <a:pPr marL="457200" indent="-457200">
              <a:buFont typeface="+mj-lt"/>
              <a:buAutoNum type="arabicPeriod"/>
            </a:pPr>
            <a:r>
              <a:rPr lang="en-US" b="1" dirty="0"/>
              <a:t>Minimum</a:t>
            </a:r>
            <a:r>
              <a:rPr lang="en-US" dirty="0"/>
              <a:t> </a:t>
            </a:r>
            <a:r>
              <a:rPr lang="en-US" b="1" dirty="0"/>
              <a:t>value</a:t>
            </a:r>
            <a:r>
              <a:rPr lang="en-US" dirty="0"/>
              <a:t>: The minimum value after dividing the data into four equal parts.</a:t>
            </a:r>
          </a:p>
          <a:p>
            <a:pPr marL="457200" indent="-457200">
              <a:buFont typeface="+mj-lt"/>
              <a:buAutoNum type="arabicPeriod"/>
            </a:pPr>
            <a:r>
              <a:rPr lang="en-US" b="1" dirty="0"/>
              <a:t>Q1</a:t>
            </a:r>
            <a:r>
              <a:rPr lang="en-US" dirty="0"/>
              <a:t>(first quartile): The value that separate the lowest 25% of data.</a:t>
            </a:r>
          </a:p>
          <a:p>
            <a:pPr marL="457200" indent="-457200">
              <a:buFont typeface="+mj-lt"/>
              <a:buAutoNum type="arabicPeriod"/>
            </a:pPr>
            <a:r>
              <a:rPr lang="en-US" b="1" dirty="0"/>
              <a:t>Q2</a:t>
            </a:r>
            <a:r>
              <a:rPr lang="en-US" dirty="0"/>
              <a:t>(second quartile): The value that separate the 50%of dataset.</a:t>
            </a:r>
          </a:p>
          <a:p>
            <a:pPr marL="457200" indent="-457200">
              <a:buFont typeface="+mj-lt"/>
              <a:buAutoNum type="arabicPeriod"/>
            </a:pPr>
            <a:r>
              <a:rPr lang="en-US" dirty="0"/>
              <a:t>.</a:t>
            </a:r>
            <a:r>
              <a:rPr lang="en-US" b="1" dirty="0"/>
              <a:t>Q3</a:t>
            </a:r>
            <a:r>
              <a:rPr lang="en-US" dirty="0"/>
              <a:t>(Third quartile):The value that separate the 75%of the dataset.</a:t>
            </a:r>
          </a:p>
          <a:p>
            <a:pPr marL="457200" indent="-457200">
              <a:buFont typeface="+mj-lt"/>
              <a:buAutoNum type="arabicPeriod"/>
            </a:pPr>
            <a:r>
              <a:rPr lang="en-US" dirty="0"/>
              <a:t>Maximum value: The large value of dataset.</a:t>
            </a:r>
          </a:p>
          <a:p>
            <a:pPr marL="457200" indent="-457200">
              <a:buFont typeface="+mj-lt"/>
              <a:buAutoNum type="arabicPeriod"/>
            </a:pP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2823722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046E-7615-D862-1976-DB6B7FBE0AAB}"/>
              </a:ext>
            </a:extLst>
          </p:cNvPr>
          <p:cNvSpPr>
            <a:spLocks noGrp="1"/>
          </p:cNvSpPr>
          <p:nvPr>
            <p:ph type="title"/>
          </p:nvPr>
        </p:nvSpPr>
        <p:spPr/>
        <p:txBody>
          <a:bodyPr/>
          <a:lstStyle/>
          <a:p>
            <a:r>
              <a:rPr lang="en-US" dirty="0"/>
              <a:t>IQR(Interqurtile Range)</a:t>
            </a:r>
          </a:p>
        </p:txBody>
      </p:sp>
      <p:sp>
        <p:nvSpPr>
          <p:cNvPr id="3" name="Content Placeholder 2">
            <a:extLst>
              <a:ext uri="{FF2B5EF4-FFF2-40B4-BE49-F238E27FC236}">
                <a16:creationId xmlns:a16="http://schemas.microsoft.com/office/drawing/2014/main" id="{30A528FC-7E63-FD3C-E167-D350C870A81D}"/>
              </a:ext>
            </a:extLst>
          </p:cNvPr>
          <p:cNvSpPr>
            <a:spLocks noGrp="1"/>
          </p:cNvSpPr>
          <p:nvPr>
            <p:ph idx="1"/>
          </p:nvPr>
        </p:nvSpPr>
        <p:spPr/>
        <p:txBody>
          <a:bodyPr/>
          <a:lstStyle/>
          <a:p>
            <a:r>
              <a:rPr lang="en-US" dirty="0"/>
              <a:t>The IQR is based upon on five number summary and calculate as difference between third quartile and first quartile.</a:t>
            </a:r>
          </a:p>
          <a:p>
            <a:r>
              <a:rPr lang="en-US" dirty="0"/>
              <a:t>:IQR= Q3-Q1 </a:t>
            </a:r>
          </a:p>
          <a:p>
            <a:r>
              <a:rPr lang="en-US" dirty="0"/>
              <a:t>Lower bounds (min)</a:t>
            </a:r>
            <a:r>
              <a:rPr lang="en-US" dirty="0">
                <a:sym typeface="Wingdings" pitchFamily="2" charset="2"/>
              </a:rPr>
              <a:t>:(Q1-1.5*IQR)</a:t>
            </a:r>
          </a:p>
          <a:p>
            <a:r>
              <a:rPr lang="en-US" dirty="0">
                <a:sym typeface="Wingdings" pitchFamily="2" charset="2"/>
              </a:rPr>
              <a:t>Upper bound (max):(Q3+1.5*IQR)</a:t>
            </a:r>
            <a:endParaRPr lang="en-US" dirty="0"/>
          </a:p>
        </p:txBody>
      </p:sp>
      <p:pic>
        <p:nvPicPr>
          <p:cNvPr id="4" name="Picture 3">
            <a:extLst>
              <a:ext uri="{FF2B5EF4-FFF2-40B4-BE49-F238E27FC236}">
                <a16:creationId xmlns:a16="http://schemas.microsoft.com/office/drawing/2014/main" id="{86E3F0FB-2E80-4BBE-A9CA-414DD0BD967F}"/>
              </a:ext>
            </a:extLst>
          </p:cNvPr>
          <p:cNvPicPr>
            <a:picLocks noChangeAspect="1"/>
          </p:cNvPicPr>
          <p:nvPr/>
        </p:nvPicPr>
        <p:blipFill>
          <a:blip r:embed="rId2"/>
          <a:stretch>
            <a:fillRect/>
          </a:stretch>
        </p:blipFill>
        <p:spPr>
          <a:xfrm>
            <a:off x="6095999" y="3429000"/>
            <a:ext cx="5002307" cy="2129116"/>
          </a:xfrm>
          <a:prstGeom prst="rect">
            <a:avLst/>
          </a:prstGeom>
        </p:spPr>
      </p:pic>
    </p:spTree>
    <p:extLst>
      <p:ext uri="{BB962C8B-B14F-4D97-AF65-F5344CB8AC3E}">
        <p14:creationId xmlns:p14="http://schemas.microsoft.com/office/powerpoint/2010/main" val="920912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8F75A-C841-A035-13D7-0E0B794E7111}"/>
              </a:ext>
            </a:extLst>
          </p:cNvPr>
          <p:cNvSpPr>
            <a:spLocks noGrp="1"/>
          </p:cNvSpPr>
          <p:nvPr>
            <p:ph type="title"/>
          </p:nvPr>
        </p:nvSpPr>
        <p:spPr/>
        <p:txBody>
          <a:bodyPr/>
          <a:lstStyle/>
          <a:p>
            <a:r>
              <a:rPr lang="en-US" dirty="0"/>
              <a:t>Probability distributions functions </a:t>
            </a:r>
          </a:p>
        </p:txBody>
      </p:sp>
      <p:sp>
        <p:nvSpPr>
          <p:cNvPr id="3" name="Content Placeholder 2">
            <a:extLst>
              <a:ext uri="{FF2B5EF4-FFF2-40B4-BE49-F238E27FC236}">
                <a16:creationId xmlns:a16="http://schemas.microsoft.com/office/drawing/2014/main" id="{774BDCCC-3F25-EA69-39E3-A74D19B006F2}"/>
              </a:ext>
            </a:extLst>
          </p:cNvPr>
          <p:cNvSpPr>
            <a:spLocks noGrp="1"/>
          </p:cNvSpPr>
          <p:nvPr>
            <p:ph idx="1"/>
          </p:nvPr>
        </p:nvSpPr>
        <p:spPr>
          <a:xfrm rot="10800000" flipV="1">
            <a:off x="1542976" y="2641514"/>
            <a:ext cx="5108836" cy="3178505"/>
          </a:xfrm>
        </p:spPr>
        <p:txBody>
          <a:bodyPr>
            <a:normAutofit fontScale="92500"/>
          </a:bodyPr>
          <a:lstStyle/>
          <a:p>
            <a:pPr marL="457200" indent="-457200">
              <a:buFont typeface="+mj-lt"/>
              <a:buAutoNum type="arabicPeriod"/>
            </a:pPr>
            <a:r>
              <a:rPr lang="en-US" dirty="0"/>
              <a:t>It helps to identify the distribution of the data in graphical form .</a:t>
            </a:r>
          </a:p>
          <a:p>
            <a:pPr marL="457200" indent="-457200">
              <a:buFont typeface="+mj-lt"/>
              <a:buAutoNum type="arabicPeriod"/>
            </a:pPr>
            <a:r>
              <a:rPr lang="en-US" dirty="0"/>
              <a:t>If any function matches the standards deviation then we can calculate every thing about the data standard formula. </a:t>
            </a:r>
          </a:p>
          <a:p>
            <a:pPr marL="457200" indent="-457200">
              <a:buFont typeface="+mj-lt"/>
              <a:buAutoNum type="arabicPeriod"/>
            </a:pPr>
            <a:r>
              <a:rPr lang="en-US" dirty="0"/>
              <a:t>It have two types Probability density function and probability mass function.</a:t>
            </a:r>
          </a:p>
        </p:txBody>
      </p:sp>
      <p:pic>
        <p:nvPicPr>
          <p:cNvPr id="4" name="Picture 3">
            <a:extLst>
              <a:ext uri="{FF2B5EF4-FFF2-40B4-BE49-F238E27FC236}">
                <a16:creationId xmlns:a16="http://schemas.microsoft.com/office/drawing/2014/main" id="{9F52FC1D-C244-C1FA-D5ED-63087D40C9E0}"/>
              </a:ext>
            </a:extLst>
          </p:cNvPr>
          <p:cNvPicPr>
            <a:picLocks noChangeAspect="1"/>
          </p:cNvPicPr>
          <p:nvPr/>
        </p:nvPicPr>
        <p:blipFill>
          <a:blip r:embed="rId2"/>
          <a:stretch>
            <a:fillRect/>
          </a:stretch>
        </p:blipFill>
        <p:spPr>
          <a:xfrm>
            <a:off x="6651811" y="2493632"/>
            <a:ext cx="5108837" cy="3178506"/>
          </a:xfrm>
          <a:prstGeom prst="rect">
            <a:avLst/>
          </a:prstGeom>
        </p:spPr>
      </p:pic>
    </p:spTree>
    <p:extLst>
      <p:ext uri="{BB962C8B-B14F-4D97-AF65-F5344CB8AC3E}">
        <p14:creationId xmlns:p14="http://schemas.microsoft.com/office/powerpoint/2010/main" val="344020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E927-529C-6AA5-78BA-7D7A21ABF73A}"/>
              </a:ext>
            </a:extLst>
          </p:cNvPr>
          <p:cNvSpPr>
            <a:spLocks noGrp="1"/>
          </p:cNvSpPr>
          <p:nvPr>
            <p:ph type="title"/>
          </p:nvPr>
        </p:nvSpPr>
        <p:spPr>
          <a:xfrm>
            <a:off x="1295402" y="268942"/>
            <a:ext cx="9601196" cy="2017058"/>
          </a:xfrm>
        </p:spPr>
        <p:txBody>
          <a:bodyPr/>
          <a:lstStyle/>
          <a:p>
            <a:r>
              <a:rPr lang="en-US" dirty="0"/>
              <a:t>1.Probability density function </a:t>
            </a:r>
          </a:p>
        </p:txBody>
      </p:sp>
      <p:pic>
        <p:nvPicPr>
          <p:cNvPr id="4" name="Content Placeholder 3">
            <a:extLst>
              <a:ext uri="{FF2B5EF4-FFF2-40B4-BE49-F238E27FC236}">
                <a16:creationId xmlns:a16="http://schemas.microsoft.com/office/drawing/2014/main" id="{FE87E7B9-68E8-5711-BE58-89CCB29F8DE5}"/>
              </a:ext>
            </a:extLst>
          </p:cNvPr>
          <p:cNvPicPr>
            <a:picLocks noGrp="1" noChangeAspect="1"/>
          </p:cNvPicPr>
          <p:nvPr>
            <p:ph idx="1"/>
          </p:nvPr>
        </p:nvPicPr>
        <p:blipFill>
          <a:blip r:embed="rId2"/>
          <a:stretch>
            <a:fillRect/>
          </a:stretch>
        </p:blipFill>
        <p:spPr>
          <a:xfrm>
            <a:off x="860612" y="1739153"/>
            <a:ext cx="10506635" cy="4536141"/>
          </a:xfrm>
          <a:prstGeom prst="rect">
            <a:avLst/>
          </a:prstGeom>
        </p:spPr>
      </p:pic>
    </p:spTree>
    <p:extLst>
      <p:ext uri="{BB962C8B-B14F-4D97-AF65-F5344CB8AC3E}">
        <p14:creationId xmlns:p14="http://schemas.microsoft.com/office/powerpoint/2010/main" val="437757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81D6C-E081-1E64-A9A1-6ED92B4012C4}"/>
              </a:ext>
            </a:extLst>
          </p:cNvPr>
          <p:cNvSpPr>
            <a:spLocks noGrp="1"/>
          </p:cNvSpPr>
          <p:nvPr>
            <p:ph type="title"/>
          </p:nvPr>
        </p:nvSpPr>
        <p:spPr/>
        <p:txBody>
          <a:bodyPr/>
          <a:lstStyle/>
          <a:p>
            <a:r>
              <a:rPr lang="en-US" dirty="0"/>
              <a:t>2.Probability mass function </a:t>
            </a:r>
          </a:p>
        </p:txBody>
      </p:sp>
      <p:sp>
        <p:nvSpPr>
          <p:cNvPr id="6" name="Content Placeholder 5">
            <a:extLst>
              <a:ext uri="{FF2B5EF4-FFF2-40B4-BE49-F238E27FC236}">
                <a16:creationId xmlns:a16="http://schemas.microsoft.com/office/drawing/2014/main" id="{CE327AC9-D172-91FF-5B2D-2F5032BA5BC3}"/>
              </a:ext>
            </a:extLst>
          </p:cNvPr>
          <p:cNvSpPr>
            <a:spLocks noGrp="1"/>
          </p:cNvSpPr>
          <p:nvPr>
            <p:ph idx="1"/>
          </p:nvPr>
        </p:nvSpPr>
        <p:spPr/>
        <p:txBody>
          <a:bodyPr/>
          <a:lstStyle/>
          <a:p>
            <a:r>
              <a:rPr lang="en-US" dirty="0"/>
              <a:t>Probability mass function till 4 in die</a:t>
            </a:r>
          </a:p>
          <a:p>
            <a:pPr marL="0" indent="0">
              <a:buNone/>
            </a:pPr>
            <a:r>
              <a:rPr lang="en-US" dirty="0"/>
              <a:t>=P(1)+p(2)+p(3)+p(4)</a:t>
            </a:r>
          </a:p>
          <a:p>
            <a:pPr marL="0" indent="0">
              <a:buNone/>
            </a:pPr>
            <a:r>
              <a:rPr lang="en-US" dirty="0"/>
              <a:t>=1/6+1/6+1/6+1/6</a:t>
            </a:r>
          </a:p>
          <a:p>
            <a:pPr marL="0" indent="0">
              <a:buNone/>
            </a:pPr>
            <a:r>
              <a:rPr lang="en-US" dirty="0"/>
              <a:t>=2/3</a:t>
            </a:r>
          </a:p>
        </p:txBody>
      </p:sp>
      <p:pic>
        <p:nvPicPr>
          <p:cNvPr id="7" name="Picture 6">
            <a:extLst>
              <a:ext uri="{FF2B5EF4-FFF2-40B4-BE49-F238E27FC236}">
                <a16:creationId xmlns:a16="http://schemas.microsoft.com/office/drawing/2014/main" id="{73793F5D-A13A-8E87-F8F9-CAE764B2EFF8}"/>
              </a:ext>
            </a:extLst>
          </p:cNvPr>
          <p:cNvPicPr>
            <a:picLocks noChangeAspect="1"/>
          </p:cNvPicPr>
          <p:nvPr/>
        </p:nvPicPr>
        <p:blipFill>
          <a:blip r:embed="rId2"/>
          <a:stretch>
            <a:fillRect/>
          </a:stretch>
        </p:blipFill>
        <p:spPr>
          <a:xfrm>
            <a:off x="6096001" y="2556932"/>
            <a:ext cx="5504328" cy="4023162"/>
          </a:xfrm>
          <a:prstGeom prst="rect">
            <a:avLst/>
          </a:prstGeom>
        </p:spPr>
      </p:pic>
    </p:spTree>
    <p:extLst>
      <p:ext uri="{BB962C8B-B14F-4D97-AF65-F5344CB8AC3E}">
        <p14:creationId xmlns:p14="http://schemas.microsoft.com/office/powerpoint/2010/main" val="1093789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5503-D4BE-A945-4FE4-CA242A287D14}"/>
              </a:ext>
            </a:extLst>
          </p:cNvPr>
          <p:cNvSpPr>
            <a:spLocks noGrp="1"/>
          </p:cNvSpPr>
          <p:nvPr>
            <p:ph type="title"/>
          </p:nvPr>
        </p:nvSpPr>
        <p:spPr/>
        <p:txBody>
          <a:bodyPr/>
          <a:lstStyle/>
          <a:p>
            <a:r>
              <a:rPr lang="en-US" dirty="0"/>
              <a:t>Cumulative density function </a:t>
            </a:r>
          </a:p>
        </p:txBody>
      </p:sp>
      <p:sp>
        <p:nvSpPr>
          <p:cNvPr id="6" name="Content Placeholder 5">
            <a:extLst>
              <a:ext uri="{FF2B5EF4-FFF2-40B4-BE49-F238E27FC236}">
                <a16:creationId xmlns:a16="http://schemas.microsoft.com/office/drawing/2014/main" id="{BD764272-3AB1-92A8-8060-6F1C5C44EF8C}"/>
              </a:ext>
            </a:extLst>
          </p:cNvPr>
          <p:cNvSpPr>
            <a:spLocks noGrp="1"/>
          </p:cNvSpPr>
          <p:nvPr>
            <p:ph idx="1"/>
          </p:nvPr>
        </p:nvSpPr>
        <p:spPr/>
        <p:txBody>
          <a:bodyPr/>
          <a:lstStyle/>
          <a:p>
            <a:r>
              <a:rPr lang="en-US" dirty="0"/>
              <a:t>It is a continuous function.</a:t>
            </a:r>
          </a:p>
          <a:p>
            <a:r>
              <a:rPr lang="en-US" dirty="0"/>
              <a:t>It is Range: 0 to 1</a:t>
            </a:r>
          </a:p>
        </p:txBody>
      </p:sp>
      <p:pic>
        <p:nvPicPr>
          <p:cNvPr id="7" name="Picture 6">
            <a:extLst>
              <a:ext uri="{FF2B5EF4-FFF2-40B4-BE49-F238E27FC236}">
                <a16:creationId xmlns:a16="http://schemas.microsoft.com/office/drawing/2014/main" id="{8B5B9D68-8281-A9EC-D0AA-244AA9569D53}"/>
              </a:ext>
            </a:extLst>
          </p:cNvPr>
          <p:cNvPicPr>
            <a:picLocks noChangeAspect="1"/>
          </p:cNvPicPr>
          <p:nvPr/>
        </p:nvPicPr>
        <p:blipFill>
          <a:blip r:embed="rId2"/>
          <a:stretch>
            <a:fillRect/>
          </a:stretch>
        </p:blipFill>
        <p:spPr>
          <a:xfrm>
            <a:off x="4930589" y="2556932"/>
            <a:ext cx="6633882" cy="3581401"/>
          </a:xfrm>
          <a:prstGeom prst="rect">
            <a:avLst/>
          </a:prstGeom>
        </p:spPr>
      </p:pic>
    </p:spTree>
    <p:extLst>
      <p:ext uri="{BB962C8B-B14F-4D97-AF65-F5344CB8AC3E}">
        <p14:creationId xmlns:p14="http://schemas.microsoft.com/office/powerpoint/2010/main" val="461968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D89AD-6A4F-D54F-9C78-E3F62B6DED2A}"/>
              </a:ext>
            </a:extLst>
          </p:cNvPr>
          <p:cNvSpPr>
            <a:spLocks noGrp="1"/>
          </p:cNvSpPr>
          <p:nvPr>
            <p:ph type="title"/>
          </p:nvPr>
        </p:nvSpPr>
        <p:spPr/>
        <p:txBody>
          <a:bodyPr/>
          <a:lstStyle/>
          <a:p>
            <a:r>
              <a:rPr lang="en-US" dirty="0"/>
              <a:t>1.Bernaulli Distribution </a:t>
            </a:r>
          </a:p>
        </p:txBody>
      </p:sp>
      <p:sp>
        <p:nvSpPr>
          <p:cNvPr id="3" name="Content Placeholder 2">
            <a:extLst>
              <a:ext uri="{FF2B5EF4-FFF2-40B4-BE49-F238E27FC236}">
                <a16:creationId xmlns:a16="http://schemas.microsoft.com/office/drawing/2014/main" id="{86966B8D-3F8B-8FF9-1B4C-29C161FD6D0C}"/>
              </a:ext>
            </a:extLst>
          </p:cNvPr>
          <p:cNvSpPr>
            <a:spLocks noGrp="1"/>
          </p:cNvSpPr>
          <p:nvPr>
            <p:ph idx="1"/>
          </p:nvPr>
        </p:nvSpPr>
        <p:spPr>
          <a:xfrm>
            <a:off x="1295402" y="2556932"/>
            <a:ext cx="6288740" cy="3318936"/>
          </a:xfrm>
        </p:spPr>
        <p:txBody>
          <a:bodyPr>
            <a:normAutofit fontScale="92500" lnSpcReduction="20000"/>
          </a:bodyPr>
          <a:lstStyle/>
          <a:p>
            <a:r>
              <a:rPr lang="en-US" dirty="0"/>
              <a:t>It is a decrete probability distributions .</a:t>
            </a:r>
          </a:p>
          <a:p>
            <a:r>
              <a:rPr lang="en-US" dirty="0"/>
              <a:t>It is concern with PMF.</a:t>
            </a:r>
          </a:p>
          <a:p>
            <a:r>
              <a:rPr lang="en-US" dirty="0"/>
              <a:t>Example: It applies to event that have trial and two outcomes. There are known as Bernoulli distribution .</a:t>
            </a:r>
          </a:p>
          <a:p>
            <a:r>
              <a:rPr lang="en-US" dirty="0"/>
              <a:t>Example 2.: one trial and two outcomes </a:t>
            </a:r>
          </a:p>
          <a:p>
            <a:pPr marL="457200" lvl="1" indent="0">
              <a:buNone/>
            </a:pPr>
            <a:r>
              <a:rPr lang="en-US" dirty="0"/>
              <a:t>Total probability= 1</a:t>
            </a:r>
          </a:p>
          <a:p>
            <a:pPr marL="457200" lvl="1" indent="0">
              <a:buNone/>
            </a:pPr>
            <a:r>
              <a:rPr lang="en-US" dirty="0"/>
              <a:t>If p(H)= 0.8</a:t>
            </a:r>
          </a:p>
          <a:p>
            <a:pPr marL="457200" lvl="1" indent="0">
              <a:buNone/>
            </a:pPr>
            <a:r>
              <a:rPr lang="en-US" dirty="0"/>
              <a:t>P(T)=0.2</a:t>
            </a:r>
          </a:p>
        </p:txBody>
      </p:sp>
      <p:pic>
        <p:nvPicPr>
          <p:cNvPr id="4" name="Picture 3">
            <a:extLst>
              <a:ext uri="{FF2B5EF4-FFF2-40B4-BE49-F238E27FC236}">
                <a16:creationId xmlns:a16="http://schemas.microsoft.com/office/drawing/2014/main" id="{88A55550-DEA5-CBB5-055D-B9FB0BB241C1}"/>
              </a:ext>
            </a:extLst>
          </p:cNvPr>
          <p:cNvPicPr>
            <a:picLocks noChangeAspect="1"/>
          </p:cNvPicPr>
          <p:nvPr/>
        </p:nvPicPr>
        <p:blipFill>
          <a:blip r:embed="rId2"/>
          <a:stretch>
            <a:fillRect/>
          </a:stretch>
        </p:blipFill>
        <p:spPr>
          <a:xfrm>
            <a:off x="7279341" y="2285999"/>
            <a:ext cx="4625788" cy="3971366"/>
          </a:xfrm>
          <a:prstGeom prst="rect">
            <a:avLst/>
          </a:prstGeom>
        </p:spPr>
      </p:pic>
    </p:spTree>
    <p:extLst>
      <p:ext uri="{BB962C8B-B14F-4D97-AF65-F5344CB8AC3E}">
        <p14:creationId xmlns:p14="http://schemas.microsoft.com/office/powerpoint/2010/main" val="1733517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029CB-4746-88CE-CB42-C5E2473EAAA4}"/>
              </a:ext>
            </a:extLst>
          </p:cNvPr>
          <p:cNvSpPr>
            <a:spLocks noGrp="1"/>
          </p:cNvSpPr>
          <p:nvPr>
            <p:ph type="title"/>
          </p:nvPr>
        </p:nvSpPr>
        <p:spPr/>
        <p:txBody>
          <a:bodyPr/>
          <a:lstStyle/>
          <a:p>
            <a:r>
              <a:rPr lang="en-US" dirty="0"/>
              <a:t>2.Binomial distribution </a:t>
            </a:r>
          </a:p>
        </p:txBody>
      </p:sp>
      <p:sp>
        <p:nvSpPr>
          <p:cNvPr id="3" name="Content Placeholder 2">
            <a:extLst>
              <a:ext uri="{FF2B5EF4-FFF2-40B4-BE49-F238E27FC236}">
                <a16:creationId xmlns:a16="http://schemas.microsoft.com/office/drawing/2014/main" id="{BBAD71F0-E4C1-215E-AAF4-AA5F00BE6B69}"/>
              </a:ext>
            </a:extLst>
          </p:cNvPr>
          <p:cNvSpPr>
            <a:spLocks noGrp="1"/>
          </p:cNvSpPr>
          <p:nvPr>
            <p:ph idx="1"/>
          </p:nvPr>
        </p:nvSpPr>
        <p:spPr>
          <a:xfrm>
            <a:off x="1295402" y="2285999"/>
            <a:ext cx="5463987" cy="3951444"/>
          </a:xfrm>
        </p:spPr>
        <p:txBody>
          <a:bodyPr>
            <a:normAutofit lnSpcReduction="10000"/>
          </a:bodyPr>
          <a:lstStyle/>
          <a:p>
            <a:r>
              <a:rPr lang="en-US" dirty="0"/>
              <a:t>It is a decrete probability distributions.</a:t>
            </a:r>
          </a:p>
          <a:p>
            <a:r>
              <a:rPr lang="en-US" dirty="0"/>
              <a:t>It is concern with PMF</a:t>
            </a:r>
          </a:p>
          <a:p>
            <a:r>
              <a:rPr lang="en-US" dirty="0"/>
              <a:t>It applies to the event where n no. Of trial and two possible outcomes.</a:t>
            </a:r>
          </a:p>
          <a:p>
            <a:r>
              <a:rPr lang="en-US" dirty="0"/>
              <a:t>N number of trial  is a independence trial.</a:t>
            </a:r>
          </a:p>
          <a:p>
            <a:r>
              <a:rPr lang="en-US" dirty="0"/>
              <a:t>Example: Tossing a coin 5 times </a:t>
            </a:r>
          </a:p>
          <a:p>
            <a:pPr marL="0" indent="0">
              <a:buNone/>
            </a:pPr>
            <a:r>
              <a:rPr lang="en-US" dirty="0"/>
              <a:t>    p(h)=0.3,p(h)=0.4,p(h)=0.5,p(h)=0.7,p(h)=0.9</a:t>
            </a:r>
          </a:p>
        </p:txBody>
      </p:sp>
      <p:pic>
        <p:nvPicPr>
          <p:cNvPr id="4" name="Picture 3">
            <a:extLst>
              <a:ext uri="{FF2B5EF4-FFF2-40B4-BE49-F238E27FC236}">
                <a16:creationId xmlns:a16="http://schemas.microsoft.com/office/drawing/2014/main" id="{F486E3FD-D3A6-DF89-5D2F-55A11765568E}"/>
              </a:ext>
            </a:extLst>
          </p:cNvPr>
          <p:cNvPicPr>
            <a:picLocks noChangeAspect="1"/>
          </p:cNvPicPr>
          <p:nvPr/>
        </p:nvPicPr>
        <p:blipFill>
          <a:blip r:embed="rId2"/>
          <a:stretch>
            <a:fillRect/>
          </a:stretch>
        </p:blipFill>
        <p:spPr>
          <a:xfrm>
            <a:off x="6759389" y="2545976"/>
            <a:ext cx="5020235" cy="3592357"/>
          </a:xfrm>
          <a:prstGeom prst="rect">
            <a:avLst/>
          </a:prstGeom>
        </p:spPr>
      </p:pic>
    </p:spTree>
    <p:extLst>
      <p:ext uri="{BB962C8B-B14F-4D97-AF65-F5344CB8AC3E}">
        <p14:creationId xmlns:p14="http://schemas.microsoft.com/office/powerpoint/2010/main" val="606550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86CAC-060C-B7DB-54BB-DE569F39FCF6}"/>
              </a:ext>
            </a:extLst>
          </p:cNvPr>
          <p:cNvSpPr>
            <a:spLocks noGrp="1"/>
          </p:cNvSpPr>
          <p:nvPr>
            <p:ph type="title"/>
          </p:nvPr>
        </p:nvSpPr>
        <p:spPr/>
        <p:txBody>
          <a:bodyPr/>
          <a:lstStyle/>
          <a:p>
            <a:r>
              <a:rPr lang="en-US" dirty="0"/>
              <a:t>3. Poisson Distribution </a:t>
            </a:r>
          </a:p>
        </p:txBody>
      </p:sp>
      <p:sp>
        <p:nvSpPr>
          <p:cNvPr id="3" name="Content Placeholder 2">
            <a:extLst>
              <a:ext uri="{FF2B5EF4-FFF2-40B4-BE49-F238E27FC236}">
                <a16:creationId xmlns:a16="http://schemas.microsoft.com/office/drawing/2014/main" id="{A534F166-68E9-A858-4458-6DEA36E6E1A4}"/>
              </a:ext>
            </a:extLst>
          </p:cNvPr>
          <p:cNvSpPr>
            <a:spLocks noGrp="1"/>
          </p:cNvSpPr>
          <p:nvPr>
            <p:ph idx="1"/>
          </p:nvPr>
        </p:nvSpPr>
        <p:spPr>
          <a:xfrm>
            <a:off x="1295401" y="2285999"/>
            <a:ext cx="5338481" cy="3589869"/>
          </a:xfrm>
        </p:spPr>
        <p:txBody>
          <a:bodyPr/>
          <a:lstStyle/>
          <a:p>
            <a:r>
              <a:rPr lang="en-US" dirty="0"/>
              <a:t>It concern with PMF</a:t>
            </a:r>
          </a:p>
          <a:p>
            <a:r>
              <a:rPr lang="en-US" dirty="0"/>
              <a:t>Descrete probability distributions </a:t>
            </a:r>
          </a:p>
          <a:p>
            <a:r>
              <a:rPr lang="en-US" dirty="0"/>
              <a:t>It appiled to the no. Of  events occurring in fix interval of time.</a:t>
            </a:r>
          </a:p>
          <a:p>
            <a:r>
              <a:rPr lang="en-US" dirty="0"/>
              <a:t>Example : Customer visiting a bank after every 1hr.</a:t>
            </a:r>
          </a:p>
        </p:txBody>
      </p:sp>
      <p:pic>
        <p:nvPicPr>
          <p:cNvPr id="4" name="Picture 3">
            <a:extLst>
              <a:ext uri="{FF2B5EF4-FFF2-40B4-BE49-F238E27FC236}">
                <a16:creationId xmlns:a16="http://schemas.microsoft.com/office/drawing/2014/main" id="{B80399D5-98C4-844E-EB2F-F218EC675790}"/>
              </a:ext>
            </a:extLst>
          </p:cNvPr>
          <p:cNvPicPr>
            <a:picLocks noChangeAspect="1"/>
          </p:cNvPicPr>
          <p:nvPr/>
        </p:nvPicPr>
        <p:blipFill>
          <a:blip r:embed="rId2"/>
          <a:stretch>
            <a:fillRect/>
          </a:stretch>
        </p:blipFill>
        <p:spPr>
          <a:xfrm>
            <a:off x="6813176" y="2133600"/>
            <a:ext cx="4697506" cy="4004732"/>
          </a:xfrm>
          <a:prstGeom prst="rect">
            <a:avLst/>
          </a:prstGeom>
        </p:spPr>
      </p:pic>
    </p:spTree>
    <p:extLst>
      <p:ext uri="{BB962C8B-B14F-4D97-AF65-F5344CB8AC3E}">
        <p14:creationId xmlns:p14="http://schemas.microsoft.com/office/powerpoint/2010/main" val="3494021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2659-E14C-6618-D342-F43E82B18E61}"/>
              </a:ext>
            </a:extLst>
          </p:cNvPr>
          <p:cNvSpPr>
            <a:spLocks noGrp="1"/>
          </p:cNvSpPr>
          <p:nvPr>
            <p:ph type="title"/>
          </p:nvPr>
        </p:nvSpPr>
        <p:spPr/>
        <p:txBody>
          <a:bodyPr/>
          <a:lstStyle/>
          <a:p>
            <a:r>
              <a:rPr lang="en-US" dirty="0"/>
              <a:t>4. Uniform distribution </a:t>
            </a:r>
          </a:p>
        </p:txBody>
      </p:sp>
      <p:sp>
        <p:nvSpPr>
          <p:cNvPr id="3" name="Content Placeholder 2">
            <a:extLst>
              <a:ext uri="{FF2B5EF4-FFF2-40B4-BE49-F238E27FC236}">
                <a16:creationId xmlns:a16="http://schemas.microsoft.com/office/drawing/2014/main" id="{11D0BB90-6214-15BD-7527-13D124BC953D}"/>
              </a:ext>
            </a:extLst>
          </p:cNvPr>
          <p:cNvSpPr>
            <a:spLocks noGrp="1"/>
          </p:cNvSpPr>
          <p:nvPr>
            <p:ph idx="1"/>
          </p:nvPr>
        </p:nvSpPr>
        <p:spPr/>
        <p:txBody>
          <a:bodyPr/>
          <a:lstStyle/>
          <a:p>
            <a:r>
              <a:rPr lang="en-US" dirty="0"/>
              <a:t>It is applied an event occurring follow uniform probability </a:t>
            </a:r>
          </a:p>
        </p:txBody>
      </p:sp>
      <p:pic>
        <p:nvPicPr>
          <p:cNvPr id="4" name="Picture 3">
            <a:extLst>
              <a:ext uri="{FF2B5EF4-FFF2-40B4-BE49-F238E27FC236}">
                <a16:creationId xmlns:a16="http://schemas.microsoft.com/office/drawing/2014/main" id="{107137DF-EC2E-7397-D3BE-B25B9AFE1094}"/>
              </a:ext>
            </a:extLst>
          </p:cNvPr>
          <p:cNvPicPr>
            <a:picLocks noChangeAspect="1"/>
          </p:cNvPicPr>
          <p:nvPr/>
        </p:nvPicPr>
        <p:blipFill>
          <a:blip r:embed="rId2"/>
          <a:stretch>
            <a:fillRect/>
          </a:stretch>
        </p:blipFill>
        <p:spPr>
          <a:xfrm>
            <a:off x="2193665" y="3119718"/>
            <a:ext cx="5587700" cy="2756149"/>
          </a:xfrm>
          <a:prstGeom prst="rect">
            <a:avLst/>
          </a:prstGeom>
        </p:spPr>
      </p:pic>
    </p:spTree>
    <p:extLst>
      <p:ext uri="{BB962C8B-B14F-4D97-AF65-F5344CB8AC3E}">
        <p14:creationId xmlns:p14="http://schemas.microsoft.com/office/powerpoint/2010/main" val="24059663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75C62-CB96-9F43-E7E3-CB8AB9EABB28}"/>
              </a:ext>
            </a:extLst>
          </p:cNvPr>
          <p:cNvSpPr>
            <a:spLocks noGrp="1"/>
          </p:cNvSpPr>
          <p:nvPr>
            <p:ph type="title"/>
          </p:nvPr>
        </p:nvSpPr>
        <p:spPr/>
        <p:txBody>
          <a:bodyPr/>
          <a:lstStyle/>
          <a:p>
            <a:r>
              <a:rPr lang="en-US" dirty="0"/>
              <a:t>5. Log-distribution </a:t>
            </a:r>
          </a:p>
        </p:txBody>
      </p:sp>
      <p:pic>
        <p:nvPicPr>
          <p:cNvPr id="4" name="Content Placeholder 3">
            <a:extLst>
              <a:ext uri="{FF2B5EF4-FFF2-40B4-BE49-F238E27FC236}">
                <a16:creationId xmlns:a16="http://schemas.microsoft.com/office/drawing/2014/main" id="{55B792A0-E720-7ED2-FB4E-A09371762979}"/>
              </a:ext>
            </a:extLst>
          </p:cNvPr>
          <p:cNvPicPr>
            <a:picLocks noGrp="1" noChangeAspect="1"/>
          </p:cNvPicPr>
          <p:nvPr>
            <p:ph idx="1"/>
          </p:nvPr>
        </p:nvPicPr>
        <p:blipFill>
          <a:blip r:embed="rId2"/>
          <a:stretch>
            <a:fillRect/>
          </a:stretch>
        </p:blipFill>
        <p:spPr>
          <a:xfrm>
            <a:off x="2115671" y="2133600"/>
            <a:ext cx="8104094" cy="4034117"/>
          </a:xfrm>
          <a:prstGeom prst="rect">
            <a:avLst/>
          </a:prstGeom>
        </p:spPr>
      </p:pic>
    </p:spTree>
    <p:extLst>
      <p:ext uri="{BB962C8B-B14F-4D97-AF65-F5344CB8AC3E}">
        <p14:creationId xmlns:p14="http://schemas.microsoft.com/office/powerpoint/2010/main" val="2802147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ADDC3-CB4E-6A6E-6891-B41044DCE081}"/>
              </a:ext>
            </a:extLst>
          </p:cNvPr>
          <p:cNvSpPr>
            <a:spLocks noGrp="1"/>
          </p:cNvSpPr>
          <p:nvPr>
            <p:ph type="title"/>
          </p:nvPr>
        </p:nvSpPr>
        <p:spPr/>
        <p:txBody>
          <a:bodyPr/>
          <a:lstStyle/>
          <a:p>
            <a:r>
              <a:rPr lang="en-US" dirty="0"/>
              <a:t>6. Normal/Gaussian Distribution </a:t>
            </a:r>
          </a:p>
        </p:txBody>
      </p:sp>
      <p:sp>
        <p:nvSpPr>
          <p:cNvPr id="3" name="Content Placeholder 2">
            <a:extLst>
              <a:ext uri="{FF2B5EF4-FFF2-40B4-BE49-F238E27FC236}">
                <a16:creationId xmlns:a16="http://schemas.microsoft.com/office/drawing/2014/main" id="{A6E6514D-ECC7-DE8A-7790-CECC609015A7}"/>
              </a:ext>
            </a:extLst>
          </p:cNvPr>
          <p:cNvSpPr>
            <a:spLocks noGrp="1"/>
          </p:cNvSpPr>
          <p:nvPr>
            <p:ph idx="1"/>
          </p:nvPr>
        </p:nvSpPr>
        <p:spPr>
          <a:xfrm>
            <a:off x="1506071" y="2008094"/>
            <a:ext cx="4589929" cy="4369798"/>
          </a:xfrm>
        </p:spPr>
        <p:txBody>
          <a:bodyPr/>
          <a:lstStyle/>
          <a:p>
            <a:r>
              <a:rPr lang="en-US" dirty="0"/>
              <a:t>It concern with PDF</a:t>
            </a:r>
          </a:p>
          <a:p>
            <a:r>
              <a:rPr lang="en-US" dirty="0"/>
              <a:t>While the distribution follow symmetric curve.</a:t>
            </a:r>
          </a:p>
          <a:p>
            <a:r>
              <a:rPr lang="en-US" dirty="0"/>
              <a:t>When mean=mode=median </a:t>
            </a:r>
          </a:p>
        </p:txBody>
      </p:sp>
      <p:pic>
        <p:nvPicPr>
          <p:cNvPr id="4" name="Picture 3">
            <a:extLst>
              <a:ext uri="{FF2B5EF4-FFF2-40B4-BE49-F238E27FC236}">
                <a16:creationId xmlns:a16="http://schemas.microsoft.com/office/drawing/2014/main" id="{0708D488-D730-110D-B0B1-FC8126805AAC}"/>
              </a:ext>
            </a:extLst>
          </p:cNvPr>
          <p:cNvPicPr>
            <a:picLocks noChangeAspect="1"/>
          </p:cNvPicPr>
          <p:nvPr/>
        </p:nvPicPr>
        <p:blipFill>
          <a:blip r:embed="rId2"/>
          <a:stretch>
            <a:fillRect/>
          </a:stretch>
        </p:blipFill>
        <p:spPr>
          <a:xfrm>
            <a:off x="5880847" y="2008094"/>
            <a:ext cx="5809129" cy="4130239"/>
          </a:xfrm>
          <a:prstGeom prst="rect">
            <a:avLst/>
          </a:prstGeom>
        </p:spPr>
      </p:pic>
    </p:spTree>
    <p:extLst>
      <p:ext uri="{BB962C8B-B14F-4D97-AF65-F5344CB8AC3E}">
        <p14:creationId xmlns:p14="http://schemas.microsoft.com/office/powerpoint/2010/main" val="12291635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BD4A-D4AC-E469-5BDF-2C2A665BB6CE}"/>
              </a:ext>
            </a:extLst>
          </p:cNvPr>
          <p:cNvSpPr>
            <a:spLocks noGrp="1"/>
          </p:cNvSpPr>
          <p:nvPr>
            <p:ph type="title"/>
          </p:nvPr>
        </p:nvSpPr>
        <p:spPr/>
        <p:txBody>
          <a:bodyPr/>
          <a:lstStyle/>
          <a:p>
            <a:r>
              <a:rPr lang="en-US" dirty="0"/>
              <a:t>Empirical Rule of Normal distribution </a:t>
            </a:r>
          </a:p>
        </p:txBody>
      </p:sp>
      <p:sp>
        <p:nvSpPr>
          <p:cNvPr id="3" name="Content Placeholder 2">
            <a:extLst>
              <a:ext uri="{FF2B5EF4-FFF2-40B4-BE49-F238E27FC236}">
                <a16:creationId xmlns:a16="http://schemas.microsoft.com/office/drawing/2014/main" id="{536EAECC-B38A-DC92-CC0C-ADE2659FF0CF}"/>
              </a:ext>
            </a:extLst>
          </p:cNvPr>
          <p:cNvSpPr>
            <a:spLocks noGrp="1"/>
          </p:cNvSpPr>
          <p:nvPr>
            <p:ph idx="1"/>
          </p:nvPr>
        </p:nvSpPr>
        <p:spPr>
          <a:xfrm>
            <a:off x="1295401" y="2556932"/>
            <a:ext cx="5266764" cy="3234268"/>
          </a:xfrm>
        </p:spPr>
        <p:txBody>
          <a:bodyPr/>
          <a:lstStyle/>
          <a:p>
            <a:r>
              <a:rPr lang="en-US" dirty="0"/>
              <a:t>The empirical Rule in statistics also known as the 68 95 99 rule, state that for normal distribution,68% of based data point will lie inside one standard deviations of mean ,95% will in two standard deviations, 99.7% will occur in three standard deviations.</a:t>
            </a:r>
          </a:p>
        </p:txBody>
      </p:sp>
      <p:pic>
        <p:nvPicPr>
          <p:cNvPr id="4" name="Picture 3">
            <a:extLst>
              <a:ext uri="{FF2B5EF4-FFF2-40B4-BE49-F238E27FC236}">
                <a16:creationId xmlns:a16="http://schemas.microsoft.com/office/drawing/2014/main" id="{523CFA28-88EE-AA41-0BCB-E9F560B2108C}"/>
              </a:ext>
            </a:extLst>
          </p:cNvPr>
          <p:cNvPicPr>
            <a:picLocks noChangeAspect="1"/>
          </p:cNvPicPr>
          <p:nvPr/>
        </p:nvPicPr>
        <p:blipFill>
          <a:blip r:embed="rId2"/>
          <a:stretch>
            <a:fillRect/>
          </a:stretch>
        </p:blipFill>
        <p:spPr>
          <a:xfrm>
            <a:off x="6562164" y="2045944"/>
            <a:ext cx="5880847" cy="4964456"/>
          </a:xfrm>
          <a:prstGeom prst="rect">
            <a:avLst/>
          </a:prstGeom>
        </p:spPr>
      </p:pic>
    </p:spTree>
    <p:extLst>
      <p:ext uri="{BB962C8B-B14F-4D97-AF65-F5344CB8AC3E}">
        <p14:creationId xmlns:p14="http://schemas.microsoft.com/office/powerpoint/2010/main" val="415852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D3B8F-4607-311A-5604-6EE18405D8C6}"/>
              </a:ext>
            </a:extLst>
          </p:cNvPr>
          <p:cNvSpPr>
            <a:spLocks noGrp="1"/>
          </p:cNvSpPr>
          <p:nvPr>
            <p:ph type="title"/>
          </p:nvPr>
        </p:nvSpPr>
        <p:spPr/>
        <p:txBody>
          <a:bodyPr/>
          <a:lstStyle/>
          <a:p>
            <a:r>
              <a:rPr lang="en-US" dirty="0"/>
              <a:t>Type of questions </a:t>
            </a:r>
          </a:p>
        </p:txBody>
      </p:sp>
      <p:sp>
        <p:nvSpPr>
          <p:cNvPr id="3" name="Content Placeholder 2">
            <a:extLst>
              <a:ext uri="{FF2B5EF4-FFF2-40B4-BE49-F238E27FC236}">
                <a16:creationId xmlns:a16="http://schemas.microsoft.com/office/drawing/2014/main" id="{1216BD01-E6E4-EC9A-D82D-EFD136CFE7C1}"/>
              </a:ext>
            </a:extLst>
          </p:cNvPr>
          <p:cNvSpPr>
            <a:spLocks noGrp="1"/>
          </p:cNvSpPr>
          <p:nvPr>
            <p:ph idx="1"/>
          </p:nvPr>
        </p:nvSpPr>
        <p:spPr>
          <a:xfrm>
            <a:off x="1295401" y="2556932"/>
            <a:ext cx="9601196" cy="4148668"/>
          </a:xfrm>
        </p:spPr>
        <p:txBody>
          <a:bodyPr/>
          <a:lstStyle/>
          <a:p>
            <a:pPr marL="457200" indent="-457200">
              <a:buFont typeface="+mj-lt"/>
              <a:buAutoNum type="arabicPeriod"/>
            </a:pPr>
            <a:r>
              <a:rPr lang="en-US" dirty="0"/>
              <a:t>What is 5 number summary?</a:t>
            </a:r>
          </a:p>
          <a:p>
            <a:pPr marL="457200" indent="-457200">
              <a:buFont typeface="+mj-lt"/>
              <a:buAutoNum type="arabicPeriod"/>
            </a:pPr>
            <a:r>
              <a:rPr lang="en-US" dirty="0"/>
              <a:t>What is the benefits of using Box plot?</a:t>
            </a:r>
          </a:p>
          <a:p>
            <a:pPr marL="457200" indent="-457200">
              <a:buFont typeface="+mj-lt"/>
              <a:buAutoNum type="arabicPeriod"/>
            </a:pPr>
            <a:r>
              <a:rPr lang="en-US" dirty="0"/>
              <a:t>What is outlier?</a:t>
            </a:r>
          </a:p>
          <a:p>
            <a:pPr marL="457200" indent="-457200">
              <a:buFont typeface="+mj-lt"/>
              <a:buAutoNum type="arabicPeriod"/>
            </a:pPr>
            <a:r>
              <a:rPr lang="en-US" dirty="0"/>
              <a:t>How you find out outlier?</a:t>
            </a:r>
          </a:p>
          <a:p>
            <a:pPr marL="457200" indent="-457200">
              <a:buFont typeface="+mj-lt"/>
              <a:buAutoNum type="arabicPeriod"/>
            </a:pPr>
            <a:r>
              <a:rPr lang="en-US" dirty="0"/>
              <a:t>What does bell curve distribution means?</a:t>
            </a:r>
          </a:p>
          <a:p>
            <a:pPr marL="457200" indent="-457200">
              <a:buFont typeface="+mj-lt"/>
              <a:buAutoNum type="arabicPeriod"/>
            </a:pPr>
            <a:r>
              <a:rPr lang="en-US" dirty="0"/>
              <a:t>What is left-shewed distribution?</a:t>
            </a:r>
          </a:p>
          <a:p>
            <a:pPr marL="457200" indent="-457200">
              <a:buFont typeface="+mj-lt"/>
              <a:buAutoNum type="arabicPeriod"/>
            </a:pPr>
            <a:r>
              <a:rPr lang="en-US" dirty="0"/>
              <a:t>What is mean by right –skewed distribution?</a:t>
            </a:r>
          </a:p>
        </p:txBody>
      </p:sp>
    </p:spTree>
    <p:extLst>
      <p:ext uri="{BB962C8B-B14F-4D97-AF65-F5344CB8AC3E}">
        <p14:creationId xmlns:p14="http://schemas.microsoft.com/office/powerpoint/2010/main" val="2524314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EB2A-0187-4646-17B8-C82D4C903D20}"/>
              </a:ext>
            </a:extLst>
          </p:cNvPr>
          <p:cNvSpPr>
            <a:spLocks noGrp="1"/>
          </p:cNvSpPr>
          <p:nvPr>
            <p:ph type="title"/>
          </p:nvPr>
        </p:nvSpPr>
        <p:spPr/>
        <p:txBody>
          <a:bodyPr/>
          <a:lstStyle/>
          <a:p>
            <a:r>
              <a:rPr lang="en-US" dirty="0"/>
              <a:t>Sampling techniques </a:t>
            </a:r>
          </a:p>
        </p:txBody>
      </p:sp>
      <p:sp>
        <p:nvSpPr>
          <p:cNvPr id="3" name="Content Placeholder 2">
            <a:extLst>
              <a:ext uri="{FF2B5EF4-FFF2-40B4-BE49-F238E27FC236}">
                <a16:creationId xmlns:a16="http://schemas.microsoft.com/office/drawing/2014/main" id="{A3599DA8-64C5-E5DE-FC48-122FB7CBF5C6}"/>
              </a:ext>
            </a:extLst>
          </p:cNvPr>
          <p:cNvSpPr>
            <a:spLocks noGrp="1"/>
          </p:cNvSpPr>
          <p:nvPr>
            <p:ph idx="1"/>
          </p:nvPr>
        </p:nvSpPr>
        <p:spPr>
          <a:xfrm>
            <a:off x="1380565" y="2556931"/>
            <a:ext cx="9516032" cy="3709397"/>
          </a:xfrm>
        </p:spPr>
        <p:txBody>
          <a:bodyPr>
            <a:normAutofit lnSpcReduction="10000"/>
          </a:bodyPr>
          <a:lstStyle/>
          <a:p>
            <a:pPr marL="457200" indent="-457200">
              <a:buFont typeface="+mj-lt"/>
              <a:buAutoNum type="arabicPeriod"/>
            </a:pPr>
            <a:r>
              <a:rPr lang="en-US" b="1" dirty="0"/>
              <a:t>Simple</a:t>
            </a:r>
            <a:r>
              <a:rPr lang="en-US" dirty="0"/>
              <a:t> </a:t>
            </a:r>
            <a:r>
              <a:rPr lang="en-US" b="1" dirty="0"/>
              <a:t>random</a:t>
            </a:r>
            <a:r>
              <a:rPr lang="en-US" dirty="0"/>
              <a:t> </a:t>
            </a:r>
            <a:r>
              <a:rPr lang="en-US" b="1" dirty="0"/>
              <a:t>sampling  population </a:t>
            </a:r>
            <a:r>
              <a:rPr lang="en-US" dirty="0"/>
              <a:t> You want to select a simple  of 1000 employee of social media marketing company.You assign a number to every employee in the company database from 1to 1000,and use a random number generator to select 100 number.</a:t>
            </a:r>
          </a:p>
          <a:p>
            <a:pPr marL="457200" indent="-457200">
              <a:buFont typeface="+mj-lt"/>
              <a:buAutoNum type="arabicPeriod"/>
            </a:pPr>
            <a:r>
              <a:rPr lang="en-US" b="1" dirty="0"/>
              <a:t>Stratified</a:t>
            </a:r>
            <a:r>
              <a:rPr lang="en-US" dirty="0"/>
              <a:t> </a:t>
            </a:r>
            <a:r>
              <a:rPr lang="en-US" b="1" dirty="0"/>
              <a:t>sampling</a:t>
            </a:r>
            <a:r>
              <a:rPr lang="en-US" dirty="0"/>
              <a:t>: Stratified sampling involves dividing the Population into subpopulation that may differ in important ways It allow you more precise conclusion by ensuring that every subgroup is properly represents in the sample.</a:t>
            </a:r>
          </a:p>
          <a:p>
            <a:r>
              <a:rPr lang="en-US" dirty="0"/>
              <a:t>To used this method, you divided the population into the subgroup based on the relevant characteristics.</a:t>
            </a:r>
          </a:p>
        </p:txBody>
      </p:sp>
    </p:spTree>
    <p:extLst>
      <p:ext uri="{BB962C8B-B14F-4D97-AF65-F5344CB8AC3E}">
        <p14:creationId xmlns:p14="http://schemas.microsoft.com/office/powerpoint/2010/main" val="15466144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B62D-2692-6334-0E39-7DB1E3AD937A}"/>
              </a:ext>
            </a:extLst>
          </p:cNvPr>
          <p:cNvSpPr>
            <a:spLocks noGrp="1"/>
          </p:cNvSpPr>
          <p:nvPr>
            <p:ph type="title"/>
          </p:nvPr>
        </p:nvSpPr>
        <p:spPr>
          <a:xfrm>
            <a:off x="1295402" y="982132"/>
            <a:ext cx="9601196" cy="810809"/>
          </a:xfrm>
        </p:spPr>
        <p:txBody>
          <a:bodyPr/>
          <a:lstStyle/>
          <a:p>
            <a:r>
              <a:rPr lang="en-US" dirty="0"/>
              <a:t>Sampling techniques </a:t>
            </a:r>
          </a:p>
        </p:txBody>
      </p:sp>
      <p:sp>
        <p:nvSpPr>
          <p:cNvPr id="3" name="Content Placeholder 2">
            <a:extLst>
              <a:ext uri="{FF2B5EF4-FFF2-40B4-BE49-F238E27FC236}">
                <a16:creationId xmlns:a16="http://schemas.microsoft.com/office/drawing/2014/main" id="{89B04CF6-9E5C-1D32-FC86-6149311BA546}"/>
              </a:ext>
            </a:extLst>
          </p:cNvPr>
          <p:cNvSpPr>
            <a:spLocks noGrp="1"/>
          </p:cNvSpPr>
          <p:nvPr>
            <p:ph idx="1"/>
          </p:nvPr>
        </p:nvSpPr>
        <p:spPr>
          <a:xfrm>
            <a:off x="914400" y="1667435"/>
            <a:ext cx="9843247" cy="3567953"/>
          </a:xfrm>
        </p:spPr>
        <p:txBody>
          <a:bodyPr>
            <a:normAutofit lnSpcReduction="10000"/>
          </a:bodyPr>
          <a:lstStyle/>
          <a:p>
            <a:pPr marL="0" indent="0">
              <a:buNone/>
            </a:pPr>
            <a:r>
              <a:rPr lang="en-US" dirty="0"/>
              <a:t>3.</a:t>
            </a:r>
            <a:r>
              <a:rPr lang="en-US" b="1" dirty="0"/>
              <a:t>Systematic</a:t>
            </a:r>
            <a:r>
              <a:rPr lang="en-US" dirty="0"/>
              <a:t> </a:t>
            </a:r>
            <a:r>
              <a:rPr lang="en-US" b="1" dirty="0"/>
              <a:t>sampling</a:t>
            </a:r>
            <a:r>
              <a:rPr lang="en-US" dirty="0"/>
              <a:t>: Systematic sampling is similar random sampling, but it is usually slightly easier to conduct. Every member of the population is listed with a number, but instead of randomly generated number, individual chooses in random interval.</a:t>
            </a:r>
          </a:p>
          <a:p>
            <a:pPr marL="0" indent="0">
              <a:buNone/>
            </a:pPr>
            <a:r>
              <a:rPr lang="en-US" dirty="0"/>
              <a:t>4.</a:t>
            </a:r>
            <a:r>
              <a:rPr lang="en-US" b="1" dirty="0"/>
              <a:t>Convenience</a:t>
            </a:r>
            <a:r>
              <a:rPr lang="en-US" dirty="0"/>
              <a:t> </a:t>
            </a:r>
            <a:r>
              <a:rPr lang="en-US" b="1" dirty="0"/>
              <a:t>Sampling</a:t>
            </a:r>
            <a:r>
              <a:rPr lang="en-US" dirty="0"/>
              <a:t>: A convenience sample simply include who happens to be most accessible to the researcher.</a:t>
            </a:r>
          </a:p>
          <a:p>
            <a:pPr marL="0" indent="0">
              <a:buNone/>
            </a:pPr>
            <a:r>
              <a:rPr lang="en-US" dirty="0"/>
              <a:t>This is an easy and inexpensive way to gather initial data, but there is no way To tell if the sample is represented of the population, so is can’t produce generalized results. Convenience samples are at risk both for sampling bias and selection bias </a:t>
            </a:r>
          </a:p>
          <a:p>
            <a:pPr marL="0" indent="0">
              <a:buNone/>
            </a:pPr>
            <a:endParaRPr lang="en-US" dirty="0"/>
          </a:p>
        </p:txBody>
      </p:sp>
    </p:spTree>
    <p:extLst>
      <p:ext uri="{BB962C8B-B14F-4D97-AF65-F5344CB8AC3E}">
        <p14:creationId xmlns:p14="http://schemas.microsoft.com/office/powerpoint/2010/main" val="4058865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94EDE-55A1-CA4C-1917-8E338C686F26}"/>
              </a:ext>
            </a:extLst>
          </p:cNvPr>
          <p:cNvSpPr>
            <a:spLocks noGrp="1"/>
          </p:cNvSpPr>
          <p:nvPr>
            <p:ph type="title"/>
          </p:nvPr>
        </p:nvSpPr>
        <p:spPr/>
        <p:txBody>
          <a:bodyPr/>
          <a:lstStyle/>
          <a:p>
            <a:r>
              <a:rPr lang="en-US" dirty="0"/>
              <a:t>Sampling techniques </a:t>
            </a:r>
          </a:p>
        </p:txBody>
      </p:sp>
      <p:sp>
        <p:nvSpPr>
          <p:cNvPr id="3" name="Content Placeholder 2">
            <a:extLst>
              <a:ext uri="{FF2B5EF4-FFF2-40B4-BE49-F238E27FC236}">
                <a16:creationId xmlns:a16="http://schemas.microsoft.com/office/drawing/2014/main" id="{8CD30658-DF52-70CD-9B63-66BF8CB32893}"/>
              </a:ext>
            </a:extLst>
          </p:cNvPr>
          <p:cNvSpPr>
            <a:spLocks noGrp="1"/>
          </p:cNvSpPr>
          <p:nvPr>
            <p:ph idx="1"/>
          </p:nvPr>
        </p:nvSpPr>
        <p:spPr>
          <a:xfrm>
            <a:off x="1510554" y="2285998"/>
            <a:ext cx="9386044" cy="3863789"/>
          </a:xfrm>
        </p:spPr>
        <p:txBody>
          <a:bodyPr/>
          <a:lstStyle/>
          <a:p>
            <a:pPr marL="0" indent="0">
              <a:buNone/>
            </a:pPr>
            <a:r>
              <a:rPr lang="en-US" dirty="0"/>
              <a:t>3.</a:t>
            </a:r>
            <a:r>
              <a:rPr lang="en-US" b="1" dirty="0"/>
              <a:t>Purposive</a:t>
            </a:r>
            <a:r>
              <a:rPr lang="en-US" dirty="0"/>
              <a:t> </a:t>
            </a:r>
            <a:r>
              <a:rPr lang="en-US" b="1" dirty="0"/>
              <a:t>sampling: </a:t>
            </a:r>
            <a:r>
              <a:rPr lang="en-US" dirty="0"/>
              <a:t>This type of sampling also known as judgement sampling, the researcher using their expertise to select a sample that is most useful to the purpose of the research. We collect it on bases of purpose.</a:t>
            </a:r>
          </a:p>
          <a:p>
            <a:pPr marL="0" indent="0">
              <a:buNone/>
            </a:pPr>
            <a:r>
              <a:rPr lang="en-US" dirty="0"/>
              <a:t>4.</a:t>
            </a:r>
            <a:r>
              <a:rPr lang="en-US" b="1" dirty="0"/>
              <a:t>Cluster</a:t>
            </a:r>
            <a:r>
              <a:rPr lang="en-US" dirty="0"/>
              <a:t> </a:t>
            </a:r>
            <a:r>
              <a:rPr lang="en-US" b="1" dirty="0"/>
              <a:t>sampling</a:t>
            </a:r>
            <a:r>
              <a:rPr lang="en-US" dirty="0"/>
              <a:t> : Cluster sampling also involved dividing the population into subgroup but each subgroup should have similar characteristics to the whole sample. Instead of sampling individual from each subgroup, you randomly select entire subgroup.</a:t>
            </a:r>
          </a:p>
        </p:txBody>
      </p:sp>
    </p:spTree>
    <p:extLst>
      <p:ext uri="{BB962C8B-B14F-4D97-AF65-F5344CB8AC3E}">
        <p14:creationId xmlns:p14="http://schemas.microsoft.com/office/powerpoint/2010/main" val="4696380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69B7-49CA-17A3-8469-04707B7B4B1B}"/>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A34AECB-87DB-736E-D87D-A857042E5E73}"/>
              </a:ext>
            </a:extLst>
          </p:cNvPr>
          <p:cNvPicPr>
            <a:picLocks noGrp="1" noChangeAspect="1"/>
          </p:cNvPicPr>
          <p:nvPr>
            <p:ph idx="1"/>
          </p:nvPr>
        </p:nvPicPr>
        <p:blipFill>
          <a:blip r:embed="rId2"/>
          <a:stretch>
            <a:fillRect/>
          </a:stretch>
        </p:blipFill>
        <p:spPr>
          <a:xfrm>
            <a:off x="161364" y="-156883"/>
            <a:ext cx="12030635" cy="7171765"/>
          </a:xfrm>
          <a:prstGeom prst="rect">
            <a:avLst/>
          </a:prstGeom>
        </p:spPr>
      </p:pic>
    </p:spTree>
    <p:extLst>
      <p:ext uri="{BB962C8B-B14F-4D97-AF65-F5344CB8AC3E}">
        <p14:creationId xmlns:p14="http://schemas.microsoft.com/office/powerpoint/2010/main" val="4017313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44A24-139F-4D14-6B24-34010F3B0C8B}"/>
              </a:ext>
            </a:extLst>
          </p:cNvPr>
          <p:cNvSpPr>
            <a:spLocks noGrp="1"/>
          </p:cNvSpPr>
          <p:nvPr>
            <p:ph type="title"/>
          </p:nvPr>
        </p:nvSpPr>
        <p:spPr/>
        <p:txBody>
          <a:bodyPr/>
          <a:lstStyle/>
          <a:p>
            <a:r>
              <a:rPr lang="en-US" dirty="0"/>
              <a:t>Thank you </a:t>
            </a:r>
          </a:p>
        </p:txBody>
      </p:sp>
      <p:pic>
        <p:nvPicPr>
          <p:cNvPr id="4" name="Content Placeholder 3">
            <a:extLst>
              <a:ext uri="{FF2B5EF4-FFF2-40B4-BE49-F238E27FC236}">
                <a16:creationId xmlns:a16="http://schemas.microsoft.com/office/drawing/2014/main" id="{85572B72-EA82-E993-2AF2-A3756881A19C}"/>
              </a:ext>
            </a:extLst>
          </p:cNvPr>
          <p:cNvPicPr>
            <a:picLocks noGrp="1" noChangeAspect="1"/>
          </p:cNvPicPr>
          <p:nvPr>
            <p:ph idx="1"/>
          </p:nvPr>
        </p:nvPicPr>
        <p:blipFill>
          <a:blip r:embed="rId2"/>
          <a:stretch>
            <a:fillRect/>
          </a:stretch>
        </p:blipFill>
        <p:spPr>
          <a:xfrm>
            <a:off x="1434353" y="2115671"/>
            <a:ext cx="9462245" cy="4177553"/>
          </a:xfrm>
          <a:prstGeom prst="rect">
            <a:avLst/>
          </a:prstGeom>
        </p:spPr>
      </p:pic>
    </p:spTree>
    <p:extLst>
      <p:ext uri="{BB962C8B-B14F-4D97-AF65-F5344CB8AC3E}">
        <p14:creationId xmlns:p14="http://schemas.microsoft.com/office/powerpoint/2010/main" val="25041198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46</Slides>
  <Notes>1</Notes>
  <HiddenSlides>0</HiddenSlide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Organic</vt:lpstr>
      <vt:lpstr>Data Analysis </vt:lpstr>
      <vt:lpstr>PowerPoint Presentation</vt:lpstr>
      <vt:lpstr>Statistics </vt:lpstr>
      <vt:lpstr>1.Descriptive Statistics  </vt:lpstr>
      <vt:lpstr>2.Inferential Statistics </vt:lpstr>
      <vt:lpstr>Question ❓</vt:lpstr>
      <vt:lpstr>Population and sample data </vt:lpstr>
      <vt:lpstr>Type of Data</vt:lpstr>
      <vt:lpstr>Descriptive statistics </vt:lpstr>
      <vt:lpstr>Mean , Mode  and Median </vt:lpstr>
      <vt:lpstr>Central tendency </vt:lpstr>
      <vt:lpstr>2.Measure of dispersion </vt:lpstr>
      <vt:lpstr>Measure of dispersion </vt:lpstr>
      <vt:lpstr>2.varience</vt:lpstr>
      <vt:lpstr>2.Standard deviations </vt:lpstr>
      <vt:lpstr>Coefficient of variation (cv) </vt:lpstr>
      <vt:lpstr>Pearson correlation </vt:lpstr>
      <vt:lpstr>Spearman correction </vt:lpstr>
      <vt:lpstr>Type of questions </vt:lpstr>
      <vt:lpstr>Graph of Analysis </vt:lpstr>
      <vt:lpstr>1.Univarient analysis </vt:lpstr>
      <vt:lpstr>2.Cummularive frequency </vt:lpstr>
      <vt:lpstr>3.Numerical features  </vt:lpstr>
      <vt:lpstr>4.Distribution of Numerical features </vt:lpstr>
      <vt:lpstr>2.Bivarient analysis </vt:lpstr>
      <vt:lpstr>Quantile and percentile </vt:lpstr>
      <vt:lpstr>Quantile calculation formulas </vt:lpstr>
      <vt:lpstr>To detect the outlier in the dataset</vt:lpstr>
      <vt:lpstr>IQR(Interqurtile Range)</vt:lpstr>
      <vt:lpstr>Probability distributions functions </vt:lpstr>
      <vt:lpstr>1.Probability density function </vt:lpstr>
      <vt:lpstr>2.Probability mass function </vt:lpstr>
      <vt:lpstr>Cumulative density function </vt:lpstr>
      <vt:lpstr>1.Bernaulli Distribution </vt:lpstr>
      <vt:lpstr>2.Binomial distribution </vt:lpstr>
      <vt:lpstr>3. Poisson Distribution </vt:lpstr>
      <vt:lpstr>4. Uniform distribution </vt:lpstr>
      <vt:lpstr>5. Log-distribution </vt:lpstr>
      <vt:lpstr>6. Normal/Gaussian Distribution </vt:lpstr>
      <vt:lpstr>Empirical Rule of Normal distribution </vt:lpstr>
      <vt:lpstr>Type of questions </vt:lpstr>
      <vt:lpstr>Sampling techniques </vt:lpstr>
      <vt:lpstr>Sampling techniques </vt:lpstr>
      <vt:lpstr>Sampling techniques </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dc:title>
  <dc:creator>Kalyani Korde</dc:creator>
  <cp:lastModifiedBy>Kalyani Korde</cp:lastModifiedBy>
  <cp:revision>6</cp:revision>
  <dcterms:created xsi:type="dcterms:W3CDTF">2025-09-23T16:42:34Z</dcterms:created>
  <dcterms:modified xsi:type="dcterms:W3CDTF">2025-09-24T17:38:46Z</dcterms:modified>
</cp:coreProperties>
</file>